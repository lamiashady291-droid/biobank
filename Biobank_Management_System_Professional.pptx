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iaa ayman" userId="91d975b727bceb9e" providerId="LiveId" clId="{59F8FAC7-ABC6-46D8-8C34-446CD13A0CD7}"/>
    <pc:docChg chg="modSld">
      <pc:chgData name="lamiaa ayman" userId="91d975b727bceb9e" providerId="LiveId" clId="{59F8FAC7-ABC6-46D8-8C34-446CD13A0CD7}" dt="2026-08-15T18:32:49.280" v="100" actId="1076"/>
      <pc:docMkLst>
        <pc:docMk/>
      </pc:docMkLst>
      <pc:sldChg chg="addSp modSp mod">
        <pc:chgData name="lamiaa ayman" userId="91d975b727bceb9e" providerId="LiveId" clId="{59F8FAC7-ABC6-46D8-8C34-446CD13A0CD7}" dt="2026-08-15T18:24:36.684" v="17" actId="14100"/>
        <pc:sldMkLst>
          <pc:docMk/>
          <pc:sldMk cId="0" sldId="266"/>
        </pc:sldMkLst>
        <pc:picChg chg="add mod">
          <ac:chgData name="lamiaa ayman" userId="91d975b727bceb9e" providerId="LiveId" clId="{59F8FAC7-ABC6-46D8-8C34-446CD13A0CD7}" dt="2026-08-15T18:24:19.401" v="15" actId="1440"/>
          <ac:picMkLst>
            <pc:docMk/>
            <pc:sldMk cId="0" sldId="266"/>
            <ac:picMk id="10" creationId="{1D1CB914-C6B8-2CE4-1580-6DD45371E87D}"/>
          </ac:picMkLst>
        </pc:picChg>
        <pc:picChg chg="mod">
          <ac:chgData name="lamiaa ayman" userId="91d975b727bceb9e" providerId="LiveId" clId="{59F8FAC7-ABC6-46D8-8C34-446CD13A0CD7}" dt="2026-08-15T18:24:36.684" v="17" actId="14100"/>
          <ac:picMkLst>
            <pc:docMk/>
            <pc:sldMk cId="0" sldId="266"/>
            <ac:picMk id="31" creationId="{0242EB95-3AB5-47CD-7559-C1B2E1045DA7}"/>
          </ac:picMkLst>
        </pc:picChg>
      </pc:sldChg>
      <pc:sldChg chg="modSp mod">
        <pc:chgData name="lamiaa ayman" userId="91d975b727bceb9e" providerId="LiveId" clId="{59F8FAC7-ABC6-46D8-8C34-446CD13A0CD7}" dt="2026-08-15T18:32:49.280" v="100" actId="1076"/>
        <pc:sldMkLst>
          <pc:docMk/>
          <pc:sldMk cId="0" sldId="267"/>
        </pc:sldMkLst>
        <pc:spChg chg="mod">
          <ac:chgData name="lamiaa ayman" userId="91d975b727bceb9e" providerId="LiveId" clId="{59F8FAC7-ABC6-46D8-8C34-446CD13A0CD7}" dt="2026-08-15T18:25:19.781" v="25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25:37.572" v="28" actId="255"/>
          <ac:spMkLst>
            <pc:docMk/>
            <pc:sldMk cId="0" sldId="267"/>
            <ac:spMk id="11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25:25.544" v="26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26:19.444" v="37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27:05.903" v="47" actId="20577"/>
          <ac:spMkLst>
            <pc:docMk/>
            <pc:sldMk cId="0" sldId="267"/>
            <ac:spMk id="18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26:30.255" v="38" actId="255"/>
          <ac:spMkLst>
            <pc:docMk/>
            <pc:sldMk cId="0" sldId="267"/>
            <ac:spMk id="23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27:00.600" v="46" actId="14100"/>
          <ac:spMkLst>
            <pc:docMk/>
            <pc:sldMk cId="0" sldId="267"/>
            <ac:spMk id="24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28:10.017" v="54" actId="255"/>
          <ac:spMkLst>
            <pc:docMk/>
            <pc:sldMk cId="0" sldId="267"/>
            <ac:spMk id="29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28:14.646" v="55" actId="1076"/>
          <ac:spMkLst>
            <pc:docMk/>
            <pc:sldMk cId="0" sldId="267"/>
            <ac:spMk id="30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28:23.752" v="56" actId="255"/>
          <ac:spMkLst>
            <pc:docMk/>
            <pc:sldMk cId="0" sldId="267"/>
            <ac:spMk id="35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28:48.291" v="61" actId="207"/>
          <ac:spMkLst>
            <pc:docMk/>
            <pc:sldMk cId="0" sldId="267"/>
            <ac:spMk id="36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29:38.645" v="69" actId="255"/>
          <ac:spMkLst>
            <pc:docMk/>
            <pc:sldMk cId="0" sldId="267"/>
            <ac:spMk id="41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29:32.791" v="68" actId="1076"/>
          <ac:spMkLst>
            <pc:docMk/>
            <pc:sldMk cId="0" sldId="267"/>
            <ac:spMk id="42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30:35.599" v="80" actId="255"/>
          <ac:spMkLst>
            <pc:docMk/>
            <pc:sldMk cId="0" sldId="267"/>
            <ac:spMk id="48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30:28.159" v="79" actId="1076"/>
          <ac:spMkLst>
            <pc:docMk/>
            <pc:sldMk cId="0" sldId="267"/>
            <ac:spMk id="49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30:46.126" v="81" actId="255"/>
          <ac:spMkLst>
            <pc:docMk/>
            <pc:sldMk cId="0" sldId="267"/>
            <ac:spMk id="54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31:31.437" v="89" actId="1076"/>
          <ac:spMkLst>
            <pc:docMk/>
            <pc:sldMk cId="0" sldId="267"/>
            <ac:spMk id="55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31:51.319" v="90" actId="1076"/>
          <ac:spMkLst>
            <pc:docMk/>
            <pc:sldMk cId="0" sldId="267"/>
            <ac:spMk id="56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32:35.145" v="98" actId="255"/>
          <ac:spMkLst>
            <pc:docMk/>
            <pc:sldMk cId="0" sldId="267"/>
            <ac:spMk id="60" creationId="{00000000-0000-0000-0000-000000000000}"/>
          </ac:spMkLst>
        </pc:spChg>
        <pc:spChg chg="mod">
          <ac:chgData name="lamiaa ayman" userId="91d975b727bceb9e" providerId="LiveId" clId="{59F8FAC7-ABC6-46D8-8C34-446CD13A0CD7}" dt="2026-08-15T18:32:49.280" v="100" actId="1076"/>
          <ac:spMkLst>
            <pc:docMk/>
            <pc:sldMk cId="0" sldId="267"/>
            <ac:spMk id="6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667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02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345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0815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18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25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577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01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14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32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6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74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25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52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62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49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599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556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78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44464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33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7458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364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992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919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72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748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32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35640" y="384048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54512" y="384048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73384" y="384048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92256" y="384048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35640" y="502920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54512" y="502920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73384" y="502920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92256" y="502920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835640" y="621792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54512" y="621792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73384" y="621792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92256" y="621792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835640" y="740664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54512" y="740664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73384" y="740664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92256" y="740664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835640" y="859536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954512" y="859536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073384" y="859536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92256" y="859536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1143000"/>
            <a:ext cx="548640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 Display"/>
              </a:rPr>
              <a:t>BIOBANK &amp;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1755648"/>
            <a:ext cx="5486400" cy="6583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800" b="1" i="0">
                <a:solidFill>
                  <a:srgbClr val="C6972A"/>
                </a:solidFill>
                <a:latin typeface="Aptos Display"/>
              </a:rPr>
              <a:t>BIOSPECIMEN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441448"/>
            <a:ext cx="5943600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 Display"/>
              </a:rPr>
              <a:t>MANAGEMENT SYSTEM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5216" y="3154680"/>
            <a:ext cx="4764024" cy="0"/>
          </a:xfrm>
          <a:prstGeom prst="line">
            <a:avLst/>
          </a:prstGeom>
          <a:ln w="2540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3364992"/>
            <a:ext cx="5212080" cy="6400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CDCDCD"/>
                </a:solidFill>
                <a:latin typeface="Aptos"/>
              </a:rPr>
              <a:t>Database design, SQL operations &amp; connected Python GUI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926222"/>
            <a:ext cx="1202072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1" dirty="0">
                <a:solidFill>
                  <a:srgbClr val="C6972A"/>
                </a:solidFill>
                <a:latin typeface="Aptos"/>
              </a:rPr>
              <a:t>Prepared</a:t>
            </a:r>
            <a:r>
              <a:rPr sz="1100" b="1" i="0" dirty="0">
                <a:solidFill>
                  <a:srgbClr val="C6972A"/>
                </a:solidFill>
                <a:latin typeface="Aptos"/>
              </a:rPr>
              <a:t> 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138130"/>
            <a:ext cx="1469109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Aptos"/>
              </a:rPr>
              <a:t>Lamia Shady</a:t>
            </a:r>
            <a:endParaRPr lang="ar-EG" sz="1600" b="1" i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ar-EG" sz="1600" b="1" dirty="0">
                <a:solidFill>
                  <a:srgbClr val="FFFFFF"/>
                </a:solidFill>
                <a:latin typeface="Aptos"/>
              </a:rPr>
              <a:t>241002351</a:t>
            </a:r>
            <a:endParaRPr sz="16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5623560"/>
            <a:ext cx="42976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AFAFAF"/>
                </a:solidFill>
                <a:latin typeface="Aptos"/>
              </a:rPr>
              <a:t>Database Management System • MySQL • 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1874519"/>
            <a:ext cx="2319832" cy="593445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8604138" y="2165847"/>
            <a:ext cx="1845076" cy="0"/>
          </a:xfrm>
          <a:prstGeom prst="line">
            <a:avLst/>
          </a:prstGeom>
          <a:ln w="12700">
            <a:solidFill>
              <a:srgbClr val="E1B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366760" y="2392436"/>
            <a:ext cx="2319832" cy="593445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8604138" y="2683763"/>
            <a:ext cx="1845076" cy="0"/>
          </a:xfrm>
          <a:prstGeom prst="line">
            <a:avLst/>
          </a:prstGeom>
          <a:ln w="12700">
            <a:solidFill>
              <a:srgbClr val="E1B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366760" y="2813243"/>
            <a:ext cx="2319832" cy="593445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8604138" y="3201680"/>
            <a:ext cx="1845076" cy="0"/>
          </a:xfrm>
          <a:prstGeom prst="line">
            <a:avLst/>
          </a:prstGeom>
          <a:ln w="12700">
            <a:solidFill>
              <a:srgbClr val="E1B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071567" y="3115360"/>
            <a:ext cx="517916" cy="517916"/>
          </a:xfrm>
          <a:prstGeom prst="ellipse">
            <a:avLst/>
          </a:prstGeom>
          <a:solidFill>
            <a:srgbClr val="C6972A"/>
          </a:solidFill>
          <a:ln w="635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71567" y="3136940"/>
            <a:ext cx="517916" cy="38843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062" b="1" i="0">
                <a:solidFill>
                  <a:srgbClr val="0A0A0A"/>
                </a:solidFill>
                <a:latin typeface="Aptos"/>
              </a:rPr>
              <a:t>DB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15200" y="3886200"/>
            <a:ext cx="3886200" cy="0"/>
          </a:xfrm>
          <a:prstGeom prst="line">
            <a:avLst/>
          </a:prstGeom>
          <a:ln w="1016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315200" y="3840480"/>
            <a:ext cx="91440" cy="91440"/>
          </a:xfrm>
          <a:prstGeom prst="ellipse">
            <a:avLst/>
          </a:prstGeom>
          <a:solidFill>
            <a:srgbClr val="C6972A"/>
          </a:solidFill>
          <a:ln w="635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155680" y="3840480"/>
            <a:ext cx="91440" cy="91440"/>
          </a:xfrm>
          <a:prstGeom prst="ellipse">
            <a:avLst/>
          </a:prstGeom>
          <a:solidFill>
            <a:srgbClr val="C6972A"/>
          </a:solidFill>
          <a:ln w="635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109960" y="6080760"/>
            <a:ext cx="5029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C6972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50292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56032"/>
            <a:ext cx="996696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 i="0" dirty="0">
                <a:solidFill>
                  <a:srgbClr val="0A0A0A"/>
                </a:solidFill>
                <a:latin typeface="Aptos Display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76656"/>
            <a:ext cx="102412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F5F5F"/>
                </a:solidFill>
                <a:latin typeface="Aptos"/>
              </a:rPr>
              <a:t>Problem, objective and practical solution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24128"/>
            <a:ext cx="11338560" cy="0"/>
          </a:xfrm>
          <a:prstGeom prst="line">
            <a:avLst/>
          </a:prstGeom>
          <a:ln w="1270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969696"/>
                </a:solidFill>
                <a:latin typeface="Aptos"/>
              </a:rPr>
              <a:t>BIOBANK &amp; BIOSPECIMEN MANAGEMENT SYSTEM  • 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5029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C6972A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3566160" cy="4434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64008" cy="443484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150876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513332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108" y="1536190"/>
            <a:ext cx="991671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b="1" i="0" dirty="0">
                <a:solidFill>
                  <a:srgbClr val="0A0A0A"/>
                </a:solidFill>
                <a:latin typeface="Aptos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704" y="1892807"/>
            <a:ext cx="4213219" cy="17789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Biobank information 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becomes difficult to manage when donors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, samples and laboratory activities are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stored without a structured 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relational design.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The project organizes these records 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so they can be stored, related,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queried and</a:t>
            </a:r>
            <a:r>
              <a:rPr lang="ar-EG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maintained consistently.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325880"/>
            <a:ext cx="3566160" cy="4434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5968" y="1325880"/>
            <a:ext cx="64008" cy="443484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98848" y="150876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1513332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1490472"/>
            <a:ext cx="1061444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i="0" dirty="0">
                <a:solidFill>
                  <a:srgbClr val="0A0A0A"/>
                </a:solidFill>
                <a:latin typeface="Aptos"/>
              </a:rPr>
              <a:t>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8798" y="1935693"/>
            <a:ext cx="3732514" cy="136491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Design and implement a MySQL relational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database for biobank and biospecimen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management. The system demonstrates 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entities, relationships, keys, constraints, 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normalization, SQL operations, views,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a trigger and testing.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1325880"/>
            <a:ext cx="3566160" cy="4434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29016" y="1325880"/>
            <a:ext cx="64008" cy="443484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11896" y="150876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11896" y="1513332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1490472"/>
            <a:ext cx="2761488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50" b="1" i="0">
                <a:solidFill>
                  <a:srgbClr val="0A0A0A"/>
                </a:solidFill>
                <a:latin typeface="Aptos"/>
              </a:rPr>
              <a:t>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1868589"/>
            <a:ext cx="2966389" cy="156350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MySQL stores the structured data,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while Python </a:t>
            </a:r>
            <a:r>
              <a:rPr sz="14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Tkinter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provides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a connected desktop interface.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The GUI can display donor records, 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search for a donor and 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add new donor information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directly to the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50292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56032"/>
            <a:ext cx="996696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  <a:latin typeface="Aptos Display"/>
              </a:rPr>
              <a:t>SYSTEM SCOPE &amp;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76656"/>
            <a:ext cx="102412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F5F5F"/>
                </a:solidFill>
                <a:latin typeface="Aptos"/>
              </a:rPr>
              <a:t>What the database is responsible for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24128"/>
            <a:ext cx="11338560" cy="0"/>
          </a:xfrm>
          <a:prstGeom prst="line">
            <a:avLst/>
          </a:prstGeom>
          <a:ln w="1270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969696"/>
                </a:solidFill>
                <a:latin typeface="Aptos"/>
              </a:rPr>
              <a:t>BIOBANK &amp; BIOSPECIMEN MANAGEMENT SYSTEM  • 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5029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C6972A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820" y="1353222"/>
            <a:ext cx="2194773" cy="147336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54875" y="1490472"/>
            <a:ext cx="1728216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 i="0" dirty="0">
                <a:solidFill>
                  <a:srgbClr val="C6972A"/>
                </a:solidFill>
                <a:latin typeface="Aptos Display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553" y="1925688"/>
            <a:ext cx="99741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rgbClr val="0A0A0A"/>
                </a:solidFill>
                <a:latin typeface="Aptos"/>
              </a:rPr>
              <a:t>MAIN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966" y="2232418"/>
            <a:ext cx="2251514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The implemented relational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schema contains ten main 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325879"/>
            <a:ext cx="2057400" cy="150622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4539" y="1490472"/>
            <a:ext cx="1815749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600" b="1" i="0" dirty="0">
                <a:solidFill>
                  <a:srgbClr val="C6972A"/>
                </a:solidFill>
                <a:latin typeface="Aptos Display"/>
              </a:rPr>
              <a:t>3NF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4753" y="1929939"/>
            <a:ext cx="1218154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rgbClr val="0A0A0A"/>
                </a:solidFill>
                <a:latin typeface="Aptos"/>
              </a:rPr>
              <a:t>NORMALIZATIO</a:t>
            </a:r>
            <a:r>
              <a:rPr sz="900" b="1" i="0" dirty="0">
                <a:solidFill>
                  <a:srgbClr val="0A0A0A"/>
                </a:solidFill>
                <a:latin typeface="Aptos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29" y="2220301"/>
            <a:ext cx="1936556" cy="4247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The design was normalized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to Third Normal 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95094" y="1325879"/>
            <a:ext cx="2154346" cy="150621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76558" y="1490472"/>
            <a:ext cx="1728216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 i="0" dirty="0">
                <a:solidFill>
                  <a:srgbClr val="C6972A"/>
                </a:solidFill>
                <a:latin typeface="Aptos Display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6558" y="1913314"/>
            <a:ext cx="1279325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rgbClr val="0A0A0A"/>
                </a:solidFill>
                <a:latin typeface="Aptos"/>
              </a:rPr>
              <a:t>DATABASE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1" y="2203785"/>
            <a:ext cx="1600695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Donor</a:t>
            </a:r>
            <a:r>
              <a:rPr lang="ar-EG"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Sample</a:t>
            </a:r>
            <a:r>
              <a:rPr lang="ar-EG"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View and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Research</a:t>
            </a:r>
            <a:r>
              <a:rPr lang="ar-EG"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Test</a:t>
            </a:r>
            <a:r>
              <a:rPr lang="ar-EG"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7228" y="1325879"/>
            <a:ext cx="2224215" cy="150866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91756" y="1481883"/>
            <a:ext cx="1728216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 i="0" dirty="0">
                <a:solidFill>
                  <a:srgbClr val="C6972A"/>
                </a:solidFill>
                <a:latin typeface="Aptos Display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0904" y="1926491"/>
            <a:ext cx="683777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TRIGGER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222" y="2208930"/>
            <a:ext cx="1706493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Validates sample usage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quantity before insertion.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7247" y="1410711"/>
            <a:ext cx="2206262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45752" y="1490472"/>
            <a:ext cx="1728216" cy="47548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 i="0" dirty="0">
                <a:solidFill>
                  <a:srgbClr val="C6972A"/>
                </a:solidFill>
                <a:latin typeface="Aptos Display"/>
              </a:rPr>
              <a:t>GUI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9298" y="1900750"/>
            <a:ext cx="1237390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BONUS FEATURE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645" y="2214074"/>
            <a:ext cx="1935723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Python </a:t>
            </a:r>
            <a:r>
              <a:rPr lang="en-US"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</a:t>
            </a:r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k</a:t>
            </a:r>
            <a:r>
              <a:rPr lang="ar-EG"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inter 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connected directly to MySQL.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926080"/>
            <a:ext cx="3611880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2926080"/>
            <a:ext cx="64008" cy="242316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5800" y="310896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3113532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" y="3090672"/>
            <a:ext cx="1842749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i="0" dirty="0">
                <a:solidFill>
                  <a:srgbClr val="0A0A0A"/>
                </a:solidFill>
                <a:latin typeface="Aptos"/>
              </a:rPr>
              <a:t>Donor &amp; Consent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159" y="3517045"/>
            <a:ext cx="3523529" cy="70173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Donors stores personal donor information.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Consent stores consent date, 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type and status linked to the donor.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2" y="2926080"/>
            <a:ext cx="3611880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79392" y="2926080"/>
            <a:ext cx="64008" cy="242316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462272" y="310896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62272" y="3113532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1183" y="3090672"/>
            <a:ext cx="2024272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i="0" dirty="0">
                <a:solidFill>
                  <a:srgbClr val="0A0A0A"/>
                </a:solidFill>
                <a:latin typeface="Aptos"/>
              </a:rPr>
              <a:t>Samples &amp;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2288" y="3493008"/>
            <a:ext cx="3743012" cy="113261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Sample</a:t>
            </a:r>
            <a:r>
              <a:rPr lang="ar-EG"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Types defines sample categories. 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Collection</a:t>
            </a:r>
            <a:r>
              <a:rPr lang="ar-EG"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Events records collection activity. 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Samples stores collected samples.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Storage</a:t>
            </a:r>
            <a:r>
              <a:rPr lang="ar-EG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Locations records freezer and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temperature information.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21028" y="2953510"/>
            <a:ext cx="3972978" cy="239572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74151" y="2909031"/>
            <a:ext cx="64008" cy="242316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238744" y="310896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38744" y="3113532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77656" y="3090672"/>
            <a:ext cx="2032992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Research &amp; Testing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7230" y="3542032"/>
            <a:ext cx="4067652" cy="113261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Researchers manage researcher information.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Test</a:t>
            </a:r>
            <a:r>
              <a:rPr lang="ar-EG"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Requests records requested tests.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Test</a:t>
            </a:r>
            <a:r>
              <a:rPr lang="ar-EG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Request</a:t>
            </a:r>
            <a:r>
              <a:rPr lang="ar-EG"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Samples resolves 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the many-to-many relationship.</a:t>
            </a:r>
            <a:endParaRPr lang="ar-EG"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Sample</a:t>
            </a:r>
            <a:r>
              <a:rPr lang="ar-EG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Usage tracks researcher use of samples.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50292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56032"/>
            <a:ext cx="996696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  <a:latin typeface="Aptos Display"/>
              </a:rPr>
              <a:t>CONCEPTUAL DESIGN —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76656"/>
            <a:ext cx="102412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F5F5F"/>
                </a:solidFill>
                <a:latin typeface="Aptos"/>
              </a:rPr>
              <a:t>Entities, relationships and cardinality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24128"/>
            <a:ext cx="11338560" cy="0"/>
          </a:xfrm>
          <a:prstGeom prst="line">
            <a:avLst/>
          </a:prstGeom>
          <a:ln w="1270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969696"/>
                </a:solidFill>
                <a:latin typeface="Aptos"/>
              </a:rPr>
              <a:t>BIOBANK &amp; BIOSPECIMEN MANAGEMENT SYSTEM  • 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5029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C6972A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7360920" cy="4892040"/>
          </a:xfrm>
          <a:prstGeom prst="roundRect">
            <a:avLst/>
          </a:prstGeom>
          <a:solidFill>
            <a:srgbClr val="FAF9F5"/>
          </a:solidFill>
          <a:ln w="17780">
            <a:solidFill>
              <a:srgbClr val="C697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5687568"/>
            <a:ext cx="6848856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0" i="1">
                <a:solidFill>
                  <a:srgbClr val="969696"/>
                </a:solidFill>
                <a:latin typeface="Aptos"/>
              </a:rPr>
              <a:t>Use the complete ERD with table names, PK/FK fields and relationship 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298448"/>
            <a:ext cx="3566160" cy="48920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572768"/>
            <a:ext cx="30632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ptos"/>
              </a:rPr>
              <a:t>KEY 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29968"/>
            <a:ext cx="2971800" cy="3246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0A0A0A"/>
                </a:solidFill>
                <a:latin typeface="Aptos"/>
              </a:defRPr>
            </a:pPr>
            <a:r>
              <a:t>• Donor 1 : Many Consent</a:t>
            </a:r>
          </a:p>
          <a:p>
            <a:pPr>
              <a:spcAft>
                <a:spcPts val="700"/>
              </a:spcAft>
              <a:defRPr sz="1050" b="0">
                <a:solidFill>
                  <a:srgbClr val="0A0A0A"/>
                </a:solidFill>
                <a:latin typeface="Aptos"/>
              </a:defRPr>
            </a:pPr>
            <a:r>
              <a:t>• Donor 1 : Many CollectionEvents</a:t>
            </a:r>
          </a:p>
          <a:p>
            <a:pPr>
              <a:spcAft>
                <a:spcPts val="700"/>
              </a:spcAft>
              <a:defRPr sz="1050" b="0">
                <a:solidFill>
                  <a:srgbClr val="0A0A0A"/>
                </a:solidFill>
                <a:latin typeface="Aptos"/>
              </a:defRPr>
            </a:pPr>
            <a:r>
              <a:t>• CollectionEvent 1 : Many Samples</a:t>
            </a:r>
          </a:p>
          <a:p>
            <a:pPr>
              <a:spcAft>
                <a:spcPts val="700"/>
              </a:spcAft>
              <a:defRPr sz="1050" b="0">
                <a:solidFill>
                  <a:srgbClr val="0A0A0A"/>
                </a:solidFill>
                <a:latin typeface="Aptos"/>
              </a:defRPr>
            </a:pPr>
            <a:r>
              <a:t>• SampleType 1 : Many Samples</a:t>
            </a:r>
          </a:p>
          <a:p>
            <a:pPr>
              <a:spcAft>
                <a:spcPts val="700"/>
              </a:spcAft>
              <a:defRPr sz="1050" b="0">
                <a:solidFill>
                  <a:srgbClr val="0A0A0A"/>
                </a:solidFill>
                <a:latin typeface="Aptos"/>
              </a:defRPr>
            </a:pPr>
            <a:r>
              <a:t>• StorageLocation 1 : Many Samples</a:t>
            </a:r>
          </a:p>
          <a:p>
            <a:pPr>
              <a:spcAft>
                <a:spcPts val="700"/>
              </a:spcAft>
              <a:defRPr sz="1050" b="0">
                <a:solidFill>
                  <a:srgbClr val="0A0A0A"/>
                </a:solidFill>
                <a:latin typeface="Aptos"/>
              </a:defRPr>
            </a:pPr>
            <a:r>
              <a:t>• Researcher 1 : Many TestRequests</a:t>
            </a:r>
          </a:p>
          <a:p>
            <a:pPr>
              <a:spcAft>
                <a:spcPts val="700"/>
              </a:spcAft>
              <a:defRPr sz="1050" b="0">
                <a:solidFill>
                  <a:srgbClr val="0A0A0A"/>
                </a:solidFill>
                <a:latin typeface="Aptos"/>
              </a:defRPr>
            </a:pPr>
            <a:r>
              <a:t>• TestRequest Many : Many Sample → TestRequestSamples</a:t>
            </a:r>
          </a:p>
          <a:p>
            <a:pPr>
              <a:spcAft>
                <a:spcPts val="700"/>
              </a:spcAft>
              <a:defRPr sz="1050" b="0">
                <a:solidFill>
                  <a:srgbClr val="0A0A0A"/>
                </a:solidFill>
                <a:latin typeface="Aptos"/>
              </a:defRPr>
            </a:pPr>
            <a:r>
              <a:t>• Researcher Many : Many Sample → SampleUsage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5440680"/>
            <a:ext cx="2971800" cy="475488"/>
          </a:xfrm>
          <a:prstGeom prst="roundRect">
            <a:avLst/>
          </a:prstGeom>
          <a:solidFill>
            <a:srgbClr val="F2E7C7"/>
          </a:solidFill>
          <a:ln w="1016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5532120"/>
            <a:ext cx="2743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1" i="0">
                <a:solidFill>
                  <a:srgbClr val="0A0A0A"/>
                </a:solidFill>
                <a:latin typeface="Aptos"/>
              </a:rPr>
              <a:t>Associative tables preserve many-to-many relationships.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944389-BCE4-242A-C0CB-304A7A19C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1321004"/>
            <a:ext cx="7269480" cy="489264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50292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56032"/>
            <a:ext cx="996696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  <a:latin typeface="Aptos Display"/>
              </a:rPr>
              <a:t>RELATIONAL SCHEMA &amp;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76656"/>
            <a:ext cx="102412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F5F5F"/>
                </a:solidFill>
                <a:latin typeface="Aptos"/>
              </a:rPr>
              <a:t>How the ER model was converted into MySQL tables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24128"/>
            <a:ext cx="11338560" cy="0"/>
          </a:xfrm>
          <a:prstGeom prst="line">
            <a:avLst/>
          </a:prstGeom>
          <a:ln w="1270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969696"/>
                </a:solidFill>
                <a:latin typeface="Aptos"/>
              </a:rPr>
              <a:t>BIOBANK &amp; BIOSPECIMEN MANAGEMENT SYSTEM  • 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5029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C6972A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51494"/>
            <a:ext cx="6720840" cy="5074920"/>
          </a:xfrm>
          <a:prstGeom prst="roundRect">
            <a:avLst/>
          </a:prstGeom>
          <a:solidFill>
            <a:srgbClr val="F8F6F0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572768"/>
            <a:ext cx="2351734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i="0" dirty="0">
                <a:solidFill>
                  <a:srgbClr val="0A0A0A"/>
                </a:solidFill>
                <a:latin typeface="Aptos"/>
              </a:rPr>
              <a:t>RELATIONAL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6172200" cy="243759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50"/>
              </a:spcAft>
              <a:defRPr sz="950" b="0">
                <a:solidFill>
                  <a:srgbClr val="0A0A0A"/>
                </a:solidFill>
                <a:latin typeface="Aptos"/>
              </a:defRPr>
            </a:pP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Donors(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donor_id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first_name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last_name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gender,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date_of_birth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phone, email UNIQUE)</a:t>
            </a:r>
          </a:p>
          <a:p>
            <a:pPr>
              <a:spcAft>
                <a:spcPts val="350"/>
              </a:spcAft>
              <a:defRPr sz="950" b="0">
                <a:solidFill>
                  <a:srgbClr val="0A0A0A"/>
                </a:solidFill>
                <a:latin typeface="Aptos"/>
              </a:defRPr>
            </a:pP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Consent(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consent_id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donor_id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consent_date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consent_type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status)</a:t>
            </a:r>
          </a:p>
          <a:p>
            <a:pPr>
              <a:spcAft>
                <a:spcPts val="350"/>
              </a:spcAft>
              <a:defRPr sz="950" b="0">
                <a:solidFill>
                  <a:srgbClr val="0A0A0A"/>
                </a:solidFill>
                <a:latin typeface="Aptos"/>
              </a:defRPr>
            </a:pP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Sample</a:t>
            </a:r>
            <a:r>
              <a:rPr lang="ar-EG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Types(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sample_type_id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type_name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UNIQUE, description)</a:t>
            </a:r>
          </a:p>
          <a:p>
            <a:pPr>
              <a:spcAft>
                <a:spcPts val="350"/>
              </a:spcAft>
              <a:defRPr sz="950" b="0">
                <a:solidFill>
                  <a:srgbClr val="0A0A0A"/>
                </a:solidFill>
                <a:latin typeface="Aptos"/>
              </a:defRPr>
            </a:pP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Storage</a:t>
            </a:r>
            <a:r>
              <a:rPr lang="ar-EG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Locations(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storage_location_id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location_name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freezer_number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temperature)</a:t>
            </a:r>
          </a:p>
          <a:p>
            <a:pPr>
              <a:spcAft>
                <a:spcPts val="350"/>
              </a:spcAft>
              <a:defRPr sz="950" b="0">
                <a:solidFill>
                  <a:srgbClr val="0A0A0A"/>
                </a:solidFill>
                <a:latin typeface="Aptos"/>
              </a:defRPr>
            </a:pP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Collection</a:t>
            </a:r>
            <a:r>
              <a:rPr lang="ar-EG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Events(collection</a:t>
            </a:r>
            <a:r>
              <a:rPr lang="ar-EG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event_id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donor_id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collection_date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collection_method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collector_name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>
              <a:spcAft>
                <a:spcPts val="350"/>
              </a:spcAft>
              <a:defRPr sz="950" b="0">
                <a:solidFill>
                  <a:srgbClr val="0A0A0A"/>
                </a:solidFill>
                <a:latin typeface="Aptos"/>
              </a:defRPr>
            </a:pP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Samples(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sample_id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collection_event_id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sample_type_id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storage_location_id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sample_code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UNIQUE,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collection_date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status)</a:t>
            </a:r>
          </a:p>
          <a:p>
            <a:pPr>
              <a:spcAft>
                <a:spcPts val="350"/>
              </a:spcAft>
              <a:defRPr sz="950" b="0">
                <a:solidFill>
                  <a:srgbClr val="0A0A0A"/>
                </a:solidFill>
                <a:latin typeface="Aptos"/>
              </a:defRPr>
            </a:pP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Researchers(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researcher_id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first_name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last_name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email UNIQUE, department)</a:t>
            </a:r>
          </a:p>
          <a:p>
            <a:pPr>
              <a:spcAft>
                <a:spcPts val="350"/>
              </a:spcAft>
              <a:defRPr sz="950" b="0">
                <a:solidFill>
                  <a:srgbClr val="0A0A0A"/>
                </a:solidFill>
                <a:latin typeface="Aptos"/>
              </a:defRPr>
            </a:pP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Test</a:t>
            </a:r>
            <a:r>
              <a:rPr lang="ar-EG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Requests(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test_request_id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researcher_id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request_date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test_type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status)</a:t>
            </a:r>
          </a:p>
          <a:p>
            <a:pPr>
              <a:spcAft>
                <a:spcPts val="350"/>
              </a:spcAft>
              <a:defRPr sz="950" b="0">
                <a:solidFill>
                  <a:srgbClr val="0A0A0A"/>
                </a:solidFill>
                <a:latin typeface="Aptos"/>
              </a:defRPr>
            </a:pP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Test</a:t>
            </a:r>
            <a:r>
              <a:rPr lang="ar-EG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</a:t>
            </a:r>
            <a:r>
              <a:rPr lang="ar-EG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Samples(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test_request_id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PK/FK,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sample_id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PK/FK,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test_result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result_date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>
              <a:spcAft>
                <a:spcPts val="350"/>
              </a:spcAft>
              <a:defRPr sz="950" b="0">
                <a:solidFill>
                  <a:srgbClr val="0A0A0A"/>
                </a:solidFill>
                <a:latin typeface="Aptos"/>
              </a:defRPr>
            </a:pP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Sample</a:t>
            </a:r>
            <a:r>
              <a:rPr lang="ar-EG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Usage(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usage_id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sample_id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researcher_id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FK,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usage_date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quantity_used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purpose)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307592"/>
            <a:ext cx="4233672" cy="5074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1572768"/>
            <a:ext cx="21945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ptos"/>
              </a:rPr>
              <a:t>WHY 3NF?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2029968"/>
            <a:ext cx="3730752" cy="11155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7699248" y="2029968"/>
            <a:ext cx="64008" cy="1115568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882127" y="2212848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7" y="2217420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2258311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i="0" dirty="0">
                <a:solidFill>
                  <a:srgbClr val="0A0A0A"/>
                </a:solidFill>
                <a:latin typeface="Aptos"/>
              </a:rPr>
              <a:t>1NF — Atomic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601753"/>
            <a:ext cx="2254412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Each field stores one value and 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there are no repeating groups.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8" y="3273552"/>
            <a:ext cx="3730752" cy="11155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99248" y="3273552"/>
            <a:ext cx="64008" cy="1115568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82127" y="3456432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2127" y="3461004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438144"/>
            <a:ext cx="2239459" cy="3016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2NF — Full dependency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3831336"/>
            <a:ext cx="5549577" cy="5632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Non-key attributes depend on the complete primary key; 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this is important for the composite key in 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Test</a:t>
            </a:r>
            <a:r>
              <a:rPr lang="ar-EG"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Request</a:t>
            </a:r>
            <a:r>
              <a:rPr lang="ar-EG"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Samples</a:t>
            </a:r>
            <a:r>
              <a:rPr sz="940" b="0" i="0" dirty="0">
                <a:solidFill>
                  <a:srgbClr val="5F5F5F"/>
                </a:solidFill>
                <a:latin typeface="Aptos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99248" y="4517136"/>
            <a:ext cx="3730752" cy="11155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99248" y="4517136"/>
            <a:ext cx="64008" cy="1115568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882127" y="4700016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82127" y="4704588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681728"/>
            <a:ext cx="3444661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i="0" dirty="0">
                <a:solidFill>
                  <a:srgbClr val="0A0A0A"/>
                </a:solidFill>
                <a:latin typeface="Aptos"/>
              </a:rPr>
              <a:t>3NF — No transitive dependency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3257" y="5114820"/>
            <a:ext cx="3986784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Related information is separated into appropriate tables so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non-key attributes do not depend on other non-key attributes.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50292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56032"/>
            <a:ext cx="996696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  <a:latin typeface="Aptos Display"/>
              </a:rPr>
              <a:t>MYSQL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76656"/>
            <a:ext cx="102412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F5F5F"/>
                </a:solidFill>
                <a:latin typeface="Aptos"/>
              </a:rPr>
              <a:t>Database creation, table creation and organized SQL scripts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24128"/>
            <a:ext cx="11338560" cy="0"/>
          </a:xfrm>
          <a:prstGeom prst="line">
            <a:avLst/>
          </a:prstGeom>
          <a:ln w="1270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969696"/>
                </a:solidFill>
                <a:latin typeface="Aptos"/>
              </a:rPr>
              <a:t>BIOBANK &amp; BIOSPECIMEN MANAGEMENT SYSTEM  • 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5029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C6972A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07592"/>
            <a:ext cx="5486400" cy="4983480"/>
          </a:xfrm>
          <a:prstGeom prst="roundRect">
            <a:avLst/>
          </a:prstGeom>
          <a:solidFill>
            <a:srgbClr val="0A0A0A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22860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DATABASE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4846320" cy="29718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EBEBEB"/>
                </a:solidFill>
                <a:latin typeface="Consolas"/>
              </a:rPr>
              <a:t>CREATE DATABASE IF NOT EXISTS BiobankDB;
USE BiobankDB;
CREATE TABLE Donors (
    donor_id INT AUTO_INCREMENT PRIMARY KEY,
    first_name VARCHAR(50) NOT NULL,
    last_name VARCHAR(50) NOT NULL,
    gender VARCHAR(10),
    date_of_birth DATE,
    phone VARCHAR(20),
    email VARCHAR(100) UNIQUE
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321808"/>
            <a:ext cx="4800600" cy="576072"/>
          </a:xfrm>
          <a:prstGeom prst="roundRect">
            <a:avLst/>
          </a:prstGeom>
          <a:solidFill>
            <a:srgbClr val="232323"/>
          </a:solidFill>
          <a:ln w="889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5477256"/>
            <a:ext cx="44805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E1B753"/>
                </a:solidFill>
                <a:latin typeface="Aptos"/>
              </a:rPr>
              <a:t>Primary keys + foreign keys + NOT NULL + UNIQUE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307592"/>
            <a:ext cx="5449824" cy="49834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572768"/>
            <a:ext cx="32918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ptos"/>
              </a:rPr>
              <a:t>PROJECT EXECUTION ORDER</a:t>
            </a:r>
          </a:p>
        </p:txBody>
      </p:sp>
      <p:sp>
        <p:nvSpPr>
          <p:cNvPr id="15" name="Oval 14"/>
          <p:cNvSpPr/>
          <p:nvPr/>
        </p:nvSpPr>
        <p:spPr>
          <a:xfrm>
            <a:off x="6510528" y="205740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2075688"/>
            <a:ext cx="347472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C6972A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048256"/>
            <a:ext cx="23317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80" b="1" i="0">
                <a:solidFill>
                  <a:srgbClr val="0A0A0A"/>
                </a:solidFill>
                <a:latin typeface="Aptos"/>
              </a:rPr>
              <a:t>create_tables.sql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166" y="2079611"/>
            <a:ext cx="2932791" cy="22467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Creates the database tables and constraints</a:t>
            </a:r>
            <a:r>
              <a:rPr sz="850" b="1" i="0" dirty="0">
                <a:solidFill>
                  <a:srgbClr val="5F5F5F"/>
                </a:solidFill>
                <a:latin typeface="Aptos"/>
              </a:rPr>
              <a:t>.</a:t>
            </a:r>
          </a:p>
        </p:txBody>
      </p:sp>
      <p:sp>
        <p:nvSpPr>
          <p:cNvPr id="19" name="Oval 18"/>
          <p:cNvSpPr/>
          <p:nvPr/>
        </p:nvSpPr>
        <p:spPr>
          <a:xfrm>
            <a:off x="6510528" y="2862072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880360"/>
            <a:ext cx="347472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C6972A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852928"/>
            <a:ext cx="23317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80" b="1" i="0">
                <a:solidFill>
                  <a:srgbClr val="0A0A0A"/>
                </a:solidFill>
                <a:latin typeface="Aptos"/>
              </a:rPr>
              <a:t>load_data.sql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5503" y="2868605"/>
            <a:ext cx="3224537" cy="22467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Inserts the test data into the implemented tables.</a:t>
            </a:r>
          </a:p>
        </p:txBody>
      </p:sp>
      <p:sp>
        <p:nvSpPr>
          <p:cNvPr id="23" name="Oval 22"/>
          <p:cNvSpPr/>
          <p:nvPr/>
        </p:nvSpPr>
        <p:spPr>
          <a:xfrm>
            <a:off x="6510528" y="3666744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3685031"/>
            <a:ext cx="347472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C6972A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657600"/>
            <a:ext cx="23317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80" b="1" i="0">
                <a:solidFill>
                  <a:srgbClr val="0A0A0A"/>
                </a:solidFill>
                <a:latin typeface="Aptos"/>
              </a:rPr>
              <a:t>views.sql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460" y="3681773"/>
            <a:ext cx="2711576" cy="22467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Creates the two required database views.</a:t>
            </a:r>
          </a:p>
        </p:txBody>
      </p:sp>
      <p:sp>
        <p:nvSpPr>
          <p:cNvPr id="27" name="Oval 26"/>
          <p:cNvSpPr/>
          <p:nvPr/>
        </p:nvSpPr>
        <p:spPr>
          <a:xfrm>
            <a:off x="6510528" y="4471416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489703"/>
            <a:ext cx="347472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C6972A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820" y="4520411"/>
            <a:ext cx="1559017" cy="2215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1080" b="1" i="0" dirty="0">
                <a:solidFill>
                  <a:srgbClr val="0A0A0A"/>
                </a:solidFill>
                <a:latin typeface="Aptos"/>
              </a:rPr>
              <a:t>T</a:t>
            </a:r>
            <a:r>
              <a:rPr sz="1080" b="1" i="0" dirty="0">
                <a:solidFill>
                  <a:srgbClr val="0A0A0A"/>
                </a:solidFill>
                <a:latin typeface="Aptos"/>
              </a:rPr>
              <a:t>riggers</a:t>
            </a:r>
            <a:r>
              <a:rPr lang="ar-EG" sz="1080" b="1" i="0" dirty="0">
                <a:solidFill>
                  <a:srgbClr val="0A0A0A"/>
                </a:solidFill>
                <a:latin typeface="Aptos"/>
              </a:rPr>
              <a:t> </a:t>
            </a:r>
            <a:r>
              <a:rPr sz="1080" b="1" i="0" dirty="0" err="1">
                <a:solidFill>
                  <a:srgbClr val="0A0A0A"/>
                </a:solidFill>
                <a:latin typeface="Aptos"/>
              </a:rPr>
              <a:t>procedures.sql</a:t>
            </a:r>
            <a:endParaRPr sz="1080" b="1" i="0" dirty="0">
              <a:solidFill>
                <a:srgbClr val="0A0A0A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682328" y="4517136"/>
            <a:ext cx="3163623" cy="22467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Implements the sample-usage validation trigger.</a:t>
            </a:r>
          </a:p>
        </p:txBody>
      </p:sp>
      <p:sp>
        <p:nvSpPr>
          <p:cNvPr id="31" name="Oval 30"/>
          <p:cNvSpPr/>
          <p:nvPr/>
        </p:nvSpPr>
        <p:spPr>
          <a:xfrm>
            <a:off x="6510528" y="5276088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0528" y="5294375"/>
            <a:ext cx="347472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C6972A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5266944"/>
            <a:ext cx="23317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80" b="1" i="0">
                <a:solidFill>
                  <a:srgbClr val="0A0A0A"/>
                </a:solidFill>
                <a:latin typeface="Aptos"/>
              </a:rPr>
              <a:t>queries.sql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2025" y="5225450"/>
            <a:ext cx="4423583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Runs retrieval, joins, aggregation, subqueries and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data modification.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50292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56032"/>
            <a:ext cx="996696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  <a:latin typeface="Aptos Display"/>
              </a:rPr>
              <a:t>SAMPLE DATA &amp; SUCCESSFUL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76656"/>
            <a:ext cx="102412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F5F5F"/>
                </a:solidFill>
                <a:latin typeface="Aptos"/>
              </a:rPr>
              <a:t>Evidence that the database contains meaningful test records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24128"/>
            <a:ext cx="11338560" cy="0"/>
          </a:xfrm>
          <a:prstGeom prst="line">
            <a:avLst/>
          </a:prstGeom>
          <a:ln w="1270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969696"/>
                </a:solidFill>
                <a:latin typeface="Aptos"/>
              </a:rPr>
              <a:t>BIOBANK &amp; BIOSPECIMEN MANAGEMENT SYSTEM  • 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5029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C6972A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6537960" cy="4434840"/>
          </a:xfrm>
          <a:prstGeom prst="roundRect">
            <a:avLst/>
          </a:prstGeom>
          <a:solidFill>
            <a:srgbClr val="FAF9F5"/>
          </a:solidFill>
          <a:ln w="17780">
            <a:solidFill>
              <a:srgbClr val="C697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5257800"/>
            <a:ext cx="6025896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0" i="1">
                <a:solidFill>
                  <a:srgbClr val="969696"/>
                </a:solidFill>
                <a:latin typeface="Aptos"/>
              </a:rPr>
              <a:t>Recommended: show the 10 donor records clearly in the result grid.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1325880"/>
            <a:ext cx="4389120" cy="4434840"/>
          </a:xfrm>
          <a:prstGeom prst="roundRect">
            <a:avLst/>
          </a:prstGeom>
          <a:solidFill>
            <a:srgbClr val="F8F6F0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571231" y="1600200"/>
            <a:ext cx="23774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ptos"/>
              </a:rPr>
              <a:t>DONORS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2057400"/>
            <a:ext cx="1760290" cy="24006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The Donors table stores: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2423160"/>
            <a:ext cx="3611880" cy="136268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  <a:defRPr sz="1019" b="0">
                <a:solidFill>
                  <a:srgbClr val="0A0A0A"/>
                </a:solidFill>
                <a:latin typeface="Aptos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donor_id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unique identifier</a:t>
            </a:r>
          </a:p>
          <a:p>
            <a:pPr>
              <a:spcAft>
                <a:spcPts val="600"/>
              </a:spcAft>
              <a:defRPr sz="1019" b="0">
                <a:solidFill>
                  <a:srgbClr val="0A0A0A"/>
                </a:solidFill>
                <a:latin typeface="Aptos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first_name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/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last_name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donor name</a:t>
            </a:r>
          </a:p>
          <a:p>
            <a:pPr>
              <a:spcAft>
                <a:spcPts val="600"/>
              </a:spcAft>
              <a:defRPr sz="1019" b="0">
                <a:solidFill>
                  <a:srgbClr val="0A0A0A"/>
                </a:solidFill>
                <a:latin typeface="Aptos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gender — donor gender</a:t>
            </a:r>
          </a:p>
          <a:p>
            <a:pPr>
              <a:spcAft>
                <a:spcPts val="600"/>
              </a:spcAft>
              <a:defRPr sz="1019" b="0">
                <a:solidFill>
                  <a:srgbClr val="0A0A0A"/>
                </a:solidFill>
                <a:latin typeface="Aptos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date_of_birth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birth date</a:t>
            </a:r>
          </a:p>
          <a:p>
            <a:pPr>
              <a:spcAft>
                <a:spcPts val="600"/>
              </a:spcAft>
              <a:defRPr sz="1019" b="0">
                <a:solidFill>
                  <a:srgbClr val="0A0A0A"/>
                </a:solidFill>
                <a:latin typeface="Aptos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phone — contact number</a:t>
            </a:r>
          </a:p>
          <a:p>
            <a:pPr>
              <a:spcAft>
                <a:spcPts val="600"/>
              </a:spcAft>
              <a:defRPr sz="1019" b="0">
                <a:solidFill>
                  <a:srgbClr val="0A0A0A"/>
                </a:solidFill>
                <a:latin typeface="Aptos"/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email — unique contact email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4709160"/>
            <a:ext cx="3657600" cy="685800"/>
          </a:xfrm>
          <a:prstGeom prst="roundRect">
            <a:avLst/>
          </a:prstGeom>
          <a:solidFill>
            <a:srgbClr val="F2E7C7"/>
          </a:solidFill>
          <a:ln w="1016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54112" y="4882896"/>
            <a:ext cx="329184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0A0A0A"/>
                </a:solidFill>
                <a:latin typeface="Aptos"/>
              </a:rPr>
              <a:t>10 meaningful donor records were loaded for testing.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19" b="0" i="1">
                <a:solidFill>
                  <a:srgbClr val="5F5F5F"/>
                </a:solidFill>
                <a:latin typeface="Aptos"/>
              </a:rPr>
              <a:t>Keep this slide evidence-focused: the screenshot is the proof; the text explains what the examiner should notice.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AAA9814-47A8-70BA-D036-9C77D1353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6442"/>
            <a:ext cx="6537959" cy="4417430"/>
          </a:xfrm>
          <a:prstGeom prst="round2DiagRect">
            <a:avLst>
              <a:gd name="adj1" fmla="val 16667"/>
              <a:gd name="adj2" fmla="val 4428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50292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56032"/>
            <a:ext cx="996696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  <a:latin typeface="Aptos Display"/>
              </a:rPr>
              <a:t>SQL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76656"/>
            <a:ext cx="102412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F5F5F"/>
                </a:solidFill>
                <a:latin typeface="Aptos"/>
              </a:rPr>
              <a:t>Retrieval, joins, aggregation, subqueries and data modification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24128"/>
            <a:ext cx="11338560" cy="0"/>
          </a:xfrm>
          <a:prstGeom prst="line">
            <a:avLst/>
          </a:prstGeom>
          <a:ln w="1270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969696"/>
                </a:solidFill>
                <a:latin typeface="Aptos"/>
              </a:rPr>
              <a:t>BIOBANK &amp; BIOSPECIMEN MANAGEMENT SYSTEM  • 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5029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C6972A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715000" cy="4983480"/>
          </a:xfrm>
          <a:prstGeom prst="roundRect">
            <a:avLst/>
          </a:prstGeom>
          <a:solidFill>
            <a:srgbClr val="0A0A0A"/>
          </a:solidFill>
          <a:ln w="1016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572768"/>
            <a:ext cx="50292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C6972A"/>
                </a:solidFill>
                <a:latin typeface="Aptos"/>
              </a:rPr>
              <a:t>SELECT + JOIN + AGGREGATION + SUBQUERY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29968"/>
            <a:ext cx="5074920" cy="397763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10" b="0" i="0">
                <a:solidFill>
                  <a:srgbClr val="EEEEEE"/>
                </a:solidFill>
                <a:latin typeface="Consolas"/>
              </a:rPr>
              <a:t>-- Filtering
SELECT *
FROM Donors
WHERE gender = 'Female';
-- Join
SELECT d.first_name, d.last_name,
       ce.collection_date
FROM Donors d
JOIN CollectionEvents ce
  ON d.donor_id = ce.donor_id;
-- Aggregation
SELECT st.type_name,
       COUNT(s.sample_id) AS number_of_samples
FROM SampleTypes st
LEFT JOIN Samples s
  ON st.sample_type_id = s.sample_type_id
GROUP BY st.type_name;
-- Subquery
SELECT first_name, last_name
FROM Donors
WHERE donor_id IN (
  SELECT donor_id
  FROM CollectionEvents
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0528" y="1325880"/>
            <a:ext cx="5175504" cy="3063240"/>
          </a:xfrm>
          <a:prstGeom prst="roundRect">
            <a:avLst/>
          </a:prstGeom>
          <a:solidFill>
            <a:srgbClr val="FAF9F5"/>
          </a:solidFill>
          <a:ln w="17780">
            <a:solidFill>
              <a:srgbClr val="C697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3886200"/>
            <a:ext cx="4663440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0" i="1">
                <a:solidFill>
                  <a:srgbClr val="969696"/>
                </a:solidFill>
                <a:latin typeface="Aptos"/>
              </a:rPr>
              <a:t>Choose a result that clearly demonstrates a JOIN or aggregation.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0528" y="4590288"/>
            <a:ext cx="5175504" cy="171907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10528" y="4590288"/>
            <a:ext cx="64008" cy="1719072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93408" y="4773168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8" y="4777740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754879"/>
            <a:ext cx="3607783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Data modification was also tested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9879" y="5254619"/>
            <a:ext cx="5232121" cy="7325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INSERT, UPDATE and DELETE statements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were executed to demonstrate that records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can be added, changed and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removed while respecting the database constraints.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DD2A7CF-8507-E604-8F2D-A476E93F4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911" y="1243583"/>
            <a:ext cx="5232121" cy="31455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50292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56032"/>
            <a:ext cx="996696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  <a:latin typeface="Aptos Display"/>
              </a:rPr>
              <a:t>VIEWS, TRIGGER &amp; 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76656"/>
            <a:ext cx="102412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F5F5F"/>
                </a:solidFill>
                <a:latin typeface="Aptos"/>
              </a:rPr>
              <a:t>Advanced database objects used to simplify reporting and protect data integrity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24128"/>
            <a:ext cx="11338560" cy="0"/>
          </a:xfrm>
          <a:prstGeom prst="line">
            <a:avLst/>
          </a:prstGeom>
          <a:ln w="1270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969696"/>
                </a:solidFill>
                <a:latin typeface="Aptos"/>
              </a:rPr>
              <a:t>BIOBANK &amp; BIOSPECIMEN MANAGEMENT SYSTEM  • 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5029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C6972A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3694176" cy="45262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64008" cy="452628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150876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513332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1881" y="1532556"/>
            <a:ext cx="3125215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View 1 — Donor</a:t>
            </a:r>
            <a:r>
              <a:rPr lang="ar-EG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Sample</a:t>
            </a:r>
            <a:r>
              <a:rPr lang="ar-EG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917" y="2055372"/>
            <a:ext cx="3358163" cy="97872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Combines donor, sample, sample type and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storage information. 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It returns the donor name, sample code, 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sample type, storage location, temperature and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sample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325880"/>
            <a:ext cx="3694176" cy="45262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5968" y="1325880"/>
            <a:ext cx="64008" cy="452628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98848" y="150876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1513332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105" y="1507152"/>
            <a:ext cx="3091039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i="0" dirty="0">
                <a:solidFill>
                  <a:srgbClr val="0A0A0A"/>
                </a:solidFill>
                <a:latin typeface="Aptos"/>
              </a:rPr>
              <a:t>View 2 — Research</a:t>
            </a:r>
            <a:r>
              <a:rPr lang="ar-EG" b="1" i="0" dirty="0">
                <a:solidFill>
                  <a:srgbClr val="0A0A0A"/>
                </a:solidFill>
                <a:latin typeface="Aptos"/>
              </a:rPr>
              <a:t> </a:t>
            </a:r>
            <a:r>
              <a:rPr b="1" i="0" dirty="0">
                <a:solidFill>
                  <a:srgbClr val="0A0A0A"/>
                </a:solidFill>
                <a:latin typeface="Aptos"/>
              </a:rPr>
              <a:t>Test</a:t>
            </a:r>
            <a:r>
              <a:rPr lang="ar-EG" b="1" i="0" dirty="0">
                <a:solidFill>
                  <a:srgbClr val="0A0A0A"/>
                </a:solidFill>
                <a:latin typeface="Aptos"/>
              </a:rPr>
              <a:t> </a:t>
            </a:r>
            <a:r>
              <a:rPr b="1" i="0" dirty="0">
                <a:solidFill>
                  <a:srgbClr val="0A0A0A"/>
                </a:solidFill>
                <a:latin typeface="Aptos"/>
              </a:rPr>
              <a:t>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2222" y="1961389"/>
            <a:ext cx="3655809" cy="6093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Combines researcher and test-request information.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It returns the researcher name, department, 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request date, test type and request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1325880"/>
            <a:ext cx="3566160" cy="45262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29016" y="1325880"/>
            <a:ext cx="64008" cy="452628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11896" y="150876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11896" y="1513332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1490472"/>
            <a:ext cx="2558521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i="0" dirty="0">
                <a:solidFill>
                  <a:srgbClr val="0A0A0A"/>
                </a:solidFill>
                <a:latin typeface="Aptos"/>
              </a:rPr>
              <a:t>Trigger — Sample Usage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2124" y="1961389"/>
            <a:ext cx="3138360" cy="79406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Before inserting into Sample</a:t>
            </a:r>
            <a:r>
              <a:rPr lang="ar-EG"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Usage, 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the trigger checks </a:t>
            </a:r>
            <a:r>
              <a:rPr sz="1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quantity_used</a:t>
            </a:r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.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If the value is less than or equal to zero,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the insert is rejected with an error message.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6035039"/>
            <a:ext cx="10515600" cy="347472"/>
          </a:xfrm>
          <a:prstGeom prst="roundRect">
            <a:avLst/>
          </a:prstGeom>
          <a:solidFill>
            <a:srgbClr val="F2E7C7"/>
          </a:solidFill>
          <a:ln w="889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2520" y="6117335"/>
            <a:ext cx="99669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19" b="1" i="0" dirty="0">
                <a:solidFill>
                  <a:srgbClr val="0A0A0A"/>
                </a:solidFill>
                <a:latin typeface="Aptos"/>
              </a:rPr>
              <a:t>Business rule enforced: </a:t>
            </a:r>
            <a:r>
              <a:rPr sz="919" b="1" i="0" dirty="0" err="1">
                <a:solidFill>
                  <a:srgbClr val="0A0A0A"/>
                </a:solidFill>
                <a:latin typeface="Aptos"/>
              </a:rPr>
              <a:t>quantity_used</a:t>
            </a:r>
            <a:r>
              <a:rPr sz="919" b="1" i="0" dirty="0">
                <a:solidFill>
                  <a:srgbClr val="0A0A0A"/>
                </a:solidFill>
                <a:latin typeface="Aptos"/>
              </a:rPr>
              <a:t> must be greater than zero.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50292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56032"/>
            <a:ext cx="996696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  <a:latin typeface="Aptos Display"/>
              </a:rP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76656"/>
            <a:ext cx="102412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F5F5F"/>
                </a:solidFill>
                <a:latin typeface="Aptos"/>
              </a:rPr>
              <a:t>Evidence that constraints, views, joins and business rules behave correctly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24128"/>
            <a:ext cx="11338560" cy="0"/>
          </a:xfrm>
          <a:prstGeom prst="line">
            <a:avLst/>
          </a:prstGeom>
          <a:ln w="1270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969696"/>
                </a:solidFill>
                <a:latin typeface="Aptos"/>
              </a:rPr>
              <a:t>BIOBANK &amp; BIOSPECIMEN MANAGEMENT SYSTEM  • 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5029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C6972A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690372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20116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0A0A0A"/>
                </a:solidFill>
                <a:latin typeface="Aptos"/>
              </a:rPr>
              <a:t>TEST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572768"/>
            <a:ext cx="22860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0A0A0A"/>
                </a:solidFill>
                <a:latin typeface="Aptos"/>
              </a:rPr>
              <a:t>EXPECTED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572768"/>
            <a:ext cx="8229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250" b="1" i="0">
                <a:solidFill>
                  <a:srgbClr val="0A0A0A"/>
                </a:solidFill>
                <a:latin typeface="Aptos"/>
              </a:rPr>
              <a:t>STATUS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" y="1920240"/>
            <a:ext cx="6382512" cy="0"/>
          </a:xfrm>
          <a:prstGeom prst="line">
            <a:avLst/>
          </a:prstGeom>
          <a:ln w="7620">
            <a:solidFill>
              <a:srgbClr val="E6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011680"/>
            <a:ext cx="205740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60" b="1" i="0">
                <a:solidFill>
                  <a:srgbClr val="0A0A0A"/>
                </a:solidFill>
                <a:latin typeface="Aptos"/>
              </a:rPr>
              <a:t>Valid data insertion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011680"/>
            <a:ext cx="288036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5F5F5F"/>
                </a:solidFill>
                <a:latin typeface="Aptos"/>
              </a:rPr>
              <a:t>Record is inserted successfully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993392"/>
            <a:ext cx="749808" cy="292608"/>
          </a:xfrm>
          <a:prstGeom prst="roundRect">
            <a:avLst/>
          </a:prstGeom>
          <a:solidFill>
            <a:srgbClr val="E6F1EA"/>
          </a:solidFill>
          <a:ln w="8890">
            <a:solidFill>
              <a:srgbClr val="33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2029968"/>
            <a:ext cx="7132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40" b="1" i="0">
                <a:solidFill>
                  <a:srgbClr val="337854"/>
                </a:solidFill>
                <a:latin typeface="Aptos"/>
              </a:rPr>
              <a:t>PASSED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2487168"/>
            <a:ext cx="6382512" cy="0"/>
          </a:xfrm>
          <a:prstGeom prst="line">
            <a:avLst/>
          </a:prstGeom>
          <a:ln w="7620">
            <a:solidFill>
              <a:srgbClr val="E6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2578608"/>
            <a:ext cx="205740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60" b="1" i="0">
                <a:solidFill>
                  <a:srgbClr val="0A0A0A"/>
                </a:solidFill>
                <a:latin typeface="Aptos"/>
              </a:rPr>
              <a:t>Duplicate primary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578608"/>
            <a:ext cx="288036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5F5F5F"/>
                </a:solidFill>
                <a:latin typeface="Aptos"/>
              </a:rPr>
              <a:t>Duplicate record is rejected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560320"/>
            <a:ext cx="749808" cy="292608"/>
          </a:xfrm>
          <a:prstGeom prst="roundRect">
            <a:avLst/>
          </a:prstGeom>
          <a:solidFill>
            <a:srgbClr val="E6F1EA"/>
          </a:solidFill>
          <a:ln w="8890">
            <a:solidFill>
              <a:srgbClr val="33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0488" y="2596896"/>
            <a:ext cx="7132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40" b="1" i="0">
                <a:solidFill>
                  <a:srgbClr val="337854"/>
                </a:solidFill>
                <a:latin typeface="Aptos"/>
              </a:rPr>
              <a:t>PASSED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8" y="3054096"/>
            <a:ext cx="6382512" cy="0"/>
          </a:xfrm>
          <a:prstGeom prst="line">
            <a:avLst/>
          </a:prstGeom>
          <a:ln w="7620">
            <a:solidFill>
              <a:srgbClr val="E6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3145536"/>
            <a:ext cx="205740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60" b="1" i="0">
                <a:solidFill>
                  <a:srgbClr val="0A0A0A"/>
                </a:solidFill>
                <a:latin typeface="Aptos"/>
              </a:rPr>
              <a:t>Invalid foreign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145536"/>
            <a:ext cx="288036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5F5F5F"/>
                </a:solidFill>
                <a:latin typeface="Aptos"/>
              </a:rPr>
              <a:t>Invalid relationship is rejected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127248"/>
            <a:ext cx="749808" cy="292608"/>
          </a:xfrm>
          <a:prstGeom prst="roundRect">
            <a:avLst/>
          </a:prstGeom>
          <a:solidFill>
            <a:srgbClr val="E6F1EA"/>
          </a:solidFill>
          <a:ln w="8890">
            <a:solidFill>
              <a:srgbClr val="33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0488" y="3163824"/>
            <a:ext cx="7132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40" b="1" i="0">
                <a:solidFill>
                  <a:srgbClr val="337854"/>
                </a:solidFill>
                <a:latin typeface="Aptos"/>
              </a:rPr>
              <a:t>PASSED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8" y="3621024"/>
            <a:ext cx="6382512" cy="0"/>
          </a:xfrm>
          <a:prstGeom prst="line">
            <a:avLst/>
          </a:prstGeom>
          <a:ln w="7620">
            <a:solidFill>
              <a:srgbClr val="E6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3712464"/>
            <a:ext cx="205740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60" b="1" i="0">
                <a:solidFill>
                  <a:srgbClr val="0A0A0A"/>
                </a:solidFill>
                <a:latin typeface="Aptos"/>
              </a:rPr>
              <a:t>Duplicate UNIQUE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3712464"/>
            <a:ext cx="288036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5F5F5F"/>
                </a:solidFill>
                <a:latin typeface="Aptos"/>
              </a:rPr>
              <a:t>Duplicate email/sample code is rejected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694176"/>
            <a:ext cx="749808" cy="292608"/>
          </a:xfrm>
          <a:prstGeom prst="roundRect">
            <a:avLst/>
          </a:prstGeom>
          <a:solidFill>
            <a:srgbClr val="E6F1EA"/>
          </a:solidFill>
          <a:ln w="8890">
            <a:solidFill>
              <a:srgbClr val="33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0488" y="3730752"/>
            <a:ext cx="7132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40" b="1" i="0">
                <a:solidFill>
                  <a:srgbClr val="337854"/>
                </a:solidFill>
                <a:latin typeface="Aptos"/>
              </a:rPr>
              <a:t>PASSED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9808" y="4187952"/>
            <a:ext cx="6382512" cy="0"/>
          </a:xfrm>
          <a:prstGeom prst="line">
            <a:avLst/>
          </a:prstGeom>
          <a:ln w="7620">
            <a:solidFill>
              <a:srgbClr val="E6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40" y="4279392"/>
            <a:ext cx="205740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60" b="1" i="0">
                <a:solidFill>
                  <a:srgbClr val="0A0A0A"/>
                </a:solidFill>
                <a:latin typeface="Aptos"/>
              </a:rPr>
              <a:t>Negative sample quantity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279392"/>
            <a:ext cx="288036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5F5F5F"/>
                </a:solidFill>
                <a:latin typeface="Aptos"/>
              </a:rPr>
              <a:t>Trigger rejects the record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261104"/>
            <a:ext cx="749808" cy="292608"/>
          </a:xfrm>
          <a:prstGeom prst="roundRect">
            <a:avLst/>
          </a:prstGeom>
          <a:solidFill>
            <a:srgbClr val="E6F1EA"/>
          </a:solidFill>
          <a:ln w="8890">
            <a:solidFill>
              <a:srgbClr val="33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0488" y="4297680"/>
            <a:ext cx="7132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40" b="1" i="0">
                <a:solidFill>
                  <a:srgbClr val="337854"/>
                </a:solidFill>
                <a:latin typeface="Aptos"/>
              </a:rPr>
              <a:t>PASSED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9808" y="4754880"/>
            <a:ext cx="6382512" cy="0"/>
          </a:xfrm>
          <a:prstGeom prst="line">
            <a:avLst/>
          </a:prstGeom>
          <a:ln w="7620">
            <a:solidFill>
              <a:srgbClr val="E6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" y="4846320"/>
            <a:ext cx="205740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60" b="1" i="0">
                <a:solidFill>
                  <a:srgbClr val="0A0A0A"/>
                </a:solidFill>
                <a:latin typeface="Aptos"/>
              </a:rPr>
              <a:t>View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4846320"/>
            <a:ext cx="288036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5F5F5F"/>
                </a:solidFill>
                <a:latin typeface="Aptos"/>
              </a:rPr>
              <a:t>Expected combined data is returned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828032"/>
            <a:ext cx="749808" cy="292608"/>
          </a:xfrm>
          <a:prstGeom prst="roundRect">
            <a:avLst/>
          </a:prstGeom>
          <a:solidFill>
            <a:srgbClr val="E6F1EA"/>
          </a:solidFill>
          <a:ln w="8890">
            <a:solidFill>
              <a:srgbClr val="33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90488" y="4864608"/>
            <a:ext cx="7132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40" b="1" i="0">
                <a:solidFill>
                  <a:srgbClr val="337854"/>
                </a:solidFill>
                <a:latin typeface="Aptos"/>
              </a:rPr>
              <a:t>PASSED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49808" y="5321808"/>
            <a:ext cx="6382512" cy="0"/>
          </a:xfrm>
          <a:prstGeom prst="line">
            <a:avLst/>
          </a:prstGeom>
          <a:ln w="7620">
            <a:solidFill>
              <a:srgbClr val="E6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7240" y="5413248"/>
            <a:ext cx="2057400" cy="34747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60" b="1" i="0">
                <a:solidFill>
                  <a:srgbClr val="0A0A0A"/>
                </a:solidFill>
                <a:latin typeface="Aptos"/>
              </a:rPr>
              <a:t>JOIN query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40" y="5413248"/>
            <a:ext cx="288036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5F5F5F"/>
                </a:solidFill>
                <a:latin typeface="Aptos"/>
              </a:rPr>
              <a:t>Related records are displayed correctly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5394960"/>
            <a:ext cx="749808" cy="292608"/>
          </a:xfrm>
          <a:prstGeom prst="roundRect">
            <a:avLst/>
          </a:prstGeom>
          <a:solidFill>
            <a:srgbClr val="E6F1EA"/>
          </a:solidFill>
          <a:ln w="8890">
            <a:solidFill>
              <a:srgbClr val="33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90488" y="5431536"/>
            <a:ext cx="713232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740" b="1" i="0">
                <a:solidFill>
                  <a:srgbClr val="337854"/>
                </a:solidFill>
                <a:latin typeface="Aptos"/>
              </a:rPr>
              <a:t>PASSED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99248" y="1325880"/>
            <a:ext cx="3986784" cy="2240280"/>
          </a:xfrm>
          <a:prstGeom prst="roundRect">
            <a:avLst/>
          </a:prstGeom>
          <a:solidFill>
            <a:srgbClr val="FAF9F5"/>
          </a:solidFill>
          <a:ln w="17780">
            <a:solidFill>
              <a:srgbClr val="C697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955279" y="3063240"/>
            <a:ext cx="3474720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0" i="1">
                <a:solidFill>
                  <a:srgbClr val="969696"/>
                </a:solidFill>
                <a:latin typeface="Aptos"/>
              </a:rPr>
              <a:t>Show the error produced when quantity_used is invalid.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99247" y="3794760"/>
            <a:ext cx="4063677" cy="2423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699248" y="3794760"/>
            <a:ext cx="64008" cy="242316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882127" y="397764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882127" y="3982212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3959352"/>
            <a:ext cx="3182112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50" b="1" i="0">
                <a:solidFill>
                  <a:srgbClr val="0A0A0A"/>
                </a:solidFill>
                <a:latin typeface="Aptos"/>
              </a:rPr>
              <a:t>What the tests prove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3769" y="4467576"/>
            <a:ext cx="4063677" cy="97872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Valid records can be inserted and retrieved.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Invalid keys and duplicate UNIQUE values are prevented. 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The trigger enforces the sample-usage rule, 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while views and JOIN queries return</a:t>
            </a:r>
            <a:endParaRPr lang="ar-EG" sz="12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the expected related information.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353942C0-C1BC-BF31-F078-81FB358DB9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62"/>
          <a:stretch>
            <a:fillRect/>
          </a:stretch>
        </p:blipFill>
        <p:spPr>
          <a:xfrm>
            <a:off x="7699248" y="1271016"/>
            <a:ext cx="3989088" cy="2322575"/>
          </a:xfrm>
          <a:prstGeom prst="round2DiagRect">
            <a:avLst>
              <a:gd name="adj1" fmla="val 16667"/>
              <a:gd name="adj2" fmla="val 19317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50292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56032"/>
            <a:ext cx="996696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  <a:latin typeface="Aptos Display"/>
              </a:rPr>
              <a:t>BONUS — CONNECTED TKINTER GUI +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76656"/>
            <a:ext cx="102412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F5F5F"/>
                </a:solidFill>
                <a:latin typeface="Aptos"/>
              </a:rPr>
              <a:t>The working application and the project repository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24128"/>
            <a:ext cx="11338560" cy="0"/>
          </a:xfrm>
          <a:prstGeom prst="line">
            <a:avLst/>
          </a:prstGeom>
          <a:ln w="1270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969696"/>
                </a:solidFill>
                <a:latin typeface="Aptos"/>
              </a:rPr>
              <a:t>BIOBANK &amp; BIOSPECIMEN MANAGEMENT SYSTEM  • 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5029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C6972A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98448"/>
            <a:ext cx="5532120" cy="3520440"/>
          </a:xfrm>
          <a:prstGeom prst="roundRect">
            <a:avLst/>
          </a:prstGeom>
          <a:solidFill>
            <a:srgbClr val="FAF9F5"/>
          </a:solidFill>
          <a:ln w="17780">
            <a:solidFill>
              <a:srgbClr val="C697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4315968"/>
            <a:ext cx="5020056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0" i="1">
                <a:solidFill>
                  <a:srgbClr val="969696"/>
                </a:solidFill>
                <a:latin typeface="Aptos"/>
              </a:rPr>
              <a:t>Best choice: Show All donors, Search result, or Add Data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298448"/>
            <a:ext cx="5394960" cy="3520440"/>
          </a:xfrm>
          <a:prstGeom prst="roundRect">
            <a:avLst/>
          </a:prstGeom>
          <a:solidFill>
            <a:srgbClr val="FAF9F5"/>
          </a:solidFill>
          <a:ln w="17780">
            <a:solidFill>
              <a:srgbClr val="C697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104" y="4315968"/>
            <a:ext cx="4882896" cy="31089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0" i="1">
                <a:solidFill>
                  <a:srgbClr val="969696"/>
                </a:solidFill>
                <a:latin typeface="Aptos"/>
              </a:rPr>
              <a:t>Show the repository name, project files and README.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74920"/>
            <a:ext cx="5532120" cy="11704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074920"/>
            <a:ext cx="64008" cy="1170432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5800" y="525780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262372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GUI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5239512"/>
            <a:ext cx="4727448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50" b="1" i="0">
                <a:solidFill>
                  <a:srgbClr val="0A0A0A"/>
                </a:solidFill>
                <a:latin typeface="Aptos"/>
              </a:rPr>
              <a:t>GUI bonus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883" y="5700105"/>
            <a:ext cx="5433475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Python </a:t>
            </a:r>
            <a:r>
              <a:rPr sz="11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Tkinter</a:t>
            </a:r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connects directly to MySQL and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demonstrates viewing, searching and adding donor records through a real interface.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5074920"/>
            <a:ext cx="5394960" cy="11704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91072" y="5074920"/>
            <a:ext cx="64008" cy="1170432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73952" y="5257800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5262372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5239512"/>
            <a:ext cx="4590288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50" b="1" i="0">
                <a:solidFill>
                  <a:srgbClr val="0A0A0A"/>
                </a:solidFill>
                <a:latin typeface="Aptos"/>
              </a:rPr>
              <a:t>GitHub submission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3794" y="5724144"/>
            <a:ext cx="4346639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The public repository keeps the SQL scripts, source code, README,</a:t>
            </a:r>
            <a:endParaRPr lang="ar-EG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report and presentation together for reproducible submission.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242EB95-3AB5-47CD-7559-C1B2E1045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12" y="1234440"/>
            <a:ext cx="5669966" cy="3562344"/>
          </a:xfrm>
          <a:prstGeom prst="round2DiagRect">
            <a:avLst>
              <a:gd name="adj1" fmla="val 16667"/>
              <a:gd name="adj2" fmla="val 1586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1CB914-C6B8-2CE4-1580-6DD45371E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307597"/>
            <a:ext cx="5487695" cy="351129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502920" cy="32918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56032"/>
            <a:ext cx="996696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  <a:latin typeface="Aptos Display"/>
              </a:rPr>
              <a:t>SYSTEM WORKFLOW &amp; 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76656"/>
            <a:ext cx="102412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F5F5F"/>
                </a:solidFill>
                <a:latin typeface="Aptos"/>
              </a:rPr>
              <a:t>From relational design to a usable database application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24128"/>
            <a:ext cx="11338560" cy="0"/>
          </a:xfrm>
          <a:prstGeom prst="line">
            <a:avLst/>
          </a:prstGeom>
          <a:ln w="1270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8912" y="6510528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969696"/>
                </a:solidFill>
                <a:latin typeface="Aptos"/>
              </a:rPr>
              <a:t>BIOBANK &amp; BIOSPECIMEN MANAGEMENT SYSTEM  • 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64808"/>
            <a:ext cx="5029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C6972A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1438934"/>
            <a:ext cx="171907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8368" y="1572768"/>
            <a:ext cx="384048" cy="384048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18488"/>
            <a:ext cx="384048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C6972A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504" y="2167128"/>
            <a:ext cx="1374479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 i="0" dirty="0">
                <a:solidFill>
                  <a:srgbClr val="0A0A0A"/>
                </a:solidFill>
                <a:latin typeface="Aptos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663" y="2517695"/>
            <a:ext cx="1698477" cy="56323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Define entities, attributes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and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business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1" y="2057400"/>
            <a:ext cx="347472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C6972A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04872" y="1417320"/>
            <a:ext cx="171907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560320" y="1572768"/>
            <a:ext cx="384048" cy="384048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0" y="1618488"/>
            <a:ext cx="384048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C6972A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2343" y="2151071"/>
            <a:ext cx="956287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 i="0" dirty="0">
                <a:solidFill>
                  <a:srgbClr val="0A0A0A"/>
                </a:solidFill>
                <a:latin typeface="Aptos"/>
              </a:rPr>
              <a:t>ER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8620" y="2577846"/>
            <a:ext cx="1360244" cy="56323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Model relationships 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and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cardinalities.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4" y="2057400"/>
            <a:ext cx="347472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C6972A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6824" y="1417320"/>
            <a:ext cx="171907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462272" y="1572768"/>
            <a:ext cx="384048" cy="384048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62272" y="1618488"/>
            <a:ext cx="384048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C6972A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6900" y="2084831"/>
            <a:ext cx="1140632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 i="0" dirty="0">
                <a:solidFill>
                  <a:srgbClr val="0A0A0A"/>
                </a:solidFill>
                <a:latin typeface="Aptos"/>
              </a:rPr>
              <a:t>3NF 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551176"/>
            <a:ext cx="1342498" cy="5632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Map entities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into 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normalized tables.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5896" y="2057400"/>
            <a:ext cx="347472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C6972A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1417320"/>
            <a:ext cx="171907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64224" y="1572768"/>
            <a:ext cx="384048" cy="384048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64224" y="1618488"/>
            <a:ext cx="384048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C6972A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1228" y="2084831"/>
            <a:ext cx="635879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 i="0" dirty="0">
                <a:solidFill>
                  <a:srgbClr val="0A0A0A"/>
                </a:solidFill>
                <a:latin typeface="Aptos"/>
              </a:rPr>
              <a:t>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522982"/>
            <a:ext cx="1450012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Create tables, keys,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constraints and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8" y="2057400"/>
            <a:ext cx="347472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C6972A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0728" y="1417320"/>
            <a:ext cx="171907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266176" y="1572768"/>
            <a:ext cx="384048" cy="384048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66176" y="1618488"/>
            <a:ext cx="384048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C6972A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3814" y="2084831"/>
            <a:ext cx="1154611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 i="0" dirty="0">
                <a:solidFill>
                  <a:srgbClr val="0A0A0A"/>
                </a:solidFill>
                <a:latin typeface="Aptos"/>
              </a:rPr>
              <a:t>SQL OBJECTS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1513" y="2487168"/>
            <a:ext cx="1177502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Run queries, 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views and trigger.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2057400"/>
            <a:ext cx="347472" cy="41148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C6972A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12680" y="1417320"/>
            <a:ext cx="171907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168128" y="1572768"/>
            <a:ext cx="384048" cy="384048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68128" y="1618488"/>
            <a:ext cx="384048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C6972A"/>
                </a:solidFill>
                <a:latin typeface="Apto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82285" y="2084831"/>
            <a:ext cx="361574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 i="0" dirty="0">
                <a:solidFill>
                  <a:srgbClr val="0A0A0A"/>
                </a:solidFill>
                <a:latin typeface="Aptos"/>
              </a:rPr>
              <a:t>GUI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66340" y="2495930"/>
            <a:ext cx="1236812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Connect </a:t>
            </a:r>
            <a:r>
              <a:rPr sz="11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Tkinter</a:t>
            </a:r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to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ctr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the live database.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886200"/>
            <a:ext cx="42062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0A0A0A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4370832"/>
            <a:ext cx="3520440" cy="1508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2920" y="4370832"/>
            <a:ext cx="64008" cy="150876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85800" y="4553712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4558284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" y="4535424"/>
            <a:ext cx="2452723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i="0" dirty="0">
                <a:solidFill>
                  <a:srgbClr val="0A0A0A"/>
                </a:solidFill>
                <a:latin typeface="Aptos"/>
              </a:rPr>
              <a:t>Structured data management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5060329"/>
            <a:ext cx="2955233" cy="56323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Ten related tables organize donors, samples, 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researchers, tests, storage and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usage information with PK/FK constraints.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15968" y="4370832"/>
            <a:ext cx="3520440" cy="1508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315968" y="4370832"/>
            <a:ext cx="64008" cy="150876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498848" y="4553712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98848" y="4558284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59" y="4535424"/>
            <a:ext cx="1737783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i="0" dirty="0">
                <a:solidFill>
                  <a:srgbClr val="0A0A0A"/>
                </a:solidFill>
                <a:latin typeface="Aptos"/>
              </a:rPr>
              <a:t>Integrity &amp; validation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54296" y="5044054"/>
            <a:ext cx="3051413" cy="56323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UNIQUE and NOT NULL rules,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referential integrity, views and 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the sample-usage trigger protect the database</a:t>
            </a:r>
            <a:r>
              <a:rPr sz="980" b="0" i="0" dirty="0">
                <a:solidFill>
                  <a:srgbClr val="5F5F5F"/>
                </a:solidFill>
                <a:latin typeface="Aptos"/>
              </a:rPr>
              <a:t>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74736" y="4361272"/>
            <a:ext cx="3557016" cy="15087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129016" y="4370832"/>
            <a:ext cx="64008" cy="1508760"/>
          </a:xfrm>
          <a:prstGeom prst="rect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311896" y="4553712"/>
            <a:ext cx="347472" cy="347472"/>
          </a:xfrm>
          <a:prstGeom prst="ellipse">
            <a:avLst/>
          </a:prstGeom>
          <a:solidFill>
            <a:srgbClr val="0A0A0A"/>
          </a:solidFill>
          <a:ln w="63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11896" y="4558284"/>
            <a:ext cx="347472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C6972A"/>
                </a:solidFill>
                <a:latin typeface="Aptos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50808" y="4535424"/>
            <a:ext cx="1743426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 i="0" dirty="0">
                <a:solidFill>
                  <a:srgbClr val="0A0A0A"/>
                </a:solidFill>
                <a:latin typeface="Aptos"/>
              </a:rPr>
              <a:t>Practical application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31352" y="4975690"/>
            <a:ext cx="2482346" cy="7325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The connected </a:t>
            </a:r>
            <a:r>
              <a:rPr sz="11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Tkinter</a:t>
            </a:r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interface turns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the database into a usable 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application for viewing, searching and</a:t>
            </a:r>
            <a:endParaRPr lang="en-US" sz="1100" b="1" i="0" dirty="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  <a:p>
            <a:pPr algn="l"/>
            <a:r>
              <a:rPr sz="11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adding donor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35640" y="384048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54512" y="384048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73384" y="384048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92256" y="384048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835640" y="502920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54512" y="502920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73384" y="502920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92256" y="502920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35640" y="621792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54512" y="621792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073384" y="621792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192256" y="621792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35640" y="740664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54512" y="740664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73384" y="740664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192256" y="740664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35640" y="859536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954512" y="859536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073384" y="859536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192256" y="859536"/>
            <a:ext cx="32004" cy="32004"/>
          </a:xfrm>
          <a:prstGeom prst="ellipse">
            <a:avLst/>
          </a:prstGeom>
          <a:solidFill>
            <a:srgbClr val="C6972A"/>
          </a:solidFill>
          <a:ln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713232"/>
            <a:ext cx="274320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6972A"/>
                </a:solidFill>
                <a:latin typeface="Aptos"/>
              </a:rPr>
              <a:t>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1298448"/>
            <a:ext cx="640080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 Display"/>
              </a:rPr>
              <a:t>A structured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1874519"/>
            <a:ext cx="713232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000" b="0" i="0">
                <a:solidFill>
                  <a:srgbClr val="D2D2D2"/>
                </a:solidFill>
                <a:latin typeface="Aptos"/>
              </a:rPr>
              <a:t>with integrity, advanced SQL features, and a working user interface.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2578608"/>
            <a:ext cx="6537960" cy="0"/>
          </a:xfrm>
          <a:prstGeom prst="line">
            <a:avLst/>
          </a:prstGeom>
          <a:ln w="20320">
            <a:solidFill>
              <a:srgbClr val="C69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2971800"/>
            <a:ext cx="6995160" cy="2423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  <a:defRPr sz="1250" b="0">
                <a:solidFill>
                  <a:srgbClr val="EBEBEB"/>
                </a:solidFill>
                <a:latin typeface="Aptos"/>
              </a:defRPr>
            </a:pPr>
            <a:r>
              <a:t>• The MySQL database was designed around a normalized relational model for biobank and biospecimen management.</a:t>
            </a:r>
          </a:p>
          <a:p>
            <a:pPr>
              <a:spcAft>
                <a:spcPts val="1000"/>
              </a:spcAft>
              <a:defRPr sz="1250" b="0">
                <a:solidFill>
                  <a:srgbClr val="EBEBEB"/>
                </a:solidFill>
                <a:latin typeface="Aptos"/>
              </a:defRPr>
            </a:pPr>
            <a:r>
              <a:t>• SQL queries, joins, aggregation, subqueries, two views and a trigger were implemented and tested.</a:t>
            </a:r>
          </a:p>
          <a:p>
            <a:pPr>
              <a:spcAft>
                <a:spcPts val="1000"/>
              </a:spcAft>
              <a:defRPr sz="1250" b="0">
                <a:solidFill>
                  <a:srgbClr val="EBEBEB"/>
                </a:solidFill>
                <a:latin typeface="Aptos"/>
              </a:defRPr>
            </a:pPr>
            <a:r>
              <a:t>• The Tkinter GUI provides a practical connection between the database and the user.</a:t>
            </a:r>
          </a:p>
          <a:p>
            <a:pPr>
              <a:spcAft>
                <a:spcPts val="1000"/>
              </a:spcAft>
              <a:defRPr sz="1250" b="0">
                <a:solidFill>
                  <a:srgbClr val="EBEBEB"/>
                </a:solidFill>
                <a:latin typeface="Aptos"/>
              </a:defRPr>
            </a:pPr>
            <a:r>
              <a:t>• Future development can add more biospecimen workflows, stronger validation and richer reporting screens.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1965960"/>
            <a:ext cx="2064257" cy="528066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8669426" y="2225192"/>
            <a:ext cx="1641805" cy="0"/>
          </a:xfrm>
          <a:prstGeom prst="line">
            <a:avLst/>
          </a:prstGeom>
          <a:ln w="12700">
            <a:solidFill>
              <a:srgbClr val="E1B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458200" y="2426817"/>
            <a:ext cx="2064257" cy="528066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8669426" y="2686050"/>
            <a:ext cx="1641805" cy="0"/>
          </a:xfrm>
          <a:prstGeom prst="line">
            <a:avLst/>
          </a:prstGeom>
          <a:ln w="12700">
            <a:solidFill>
              <a:srgbClr val="E1B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58200" y="2887675"/>
            <a:ext cx="2064257" cy="528066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8669426" y="3146907"/>
            <a:ext cx="1641805" cy="0"/>
          </a:xfrm>
          <a:prstGeom prst="line">
            <a:avLst/>
          </a:prstGeom>
          <a:ln w="12700">
            <a:solidFill>
              <a:srgbClr val="E1B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975189" y="3070098"/>
            <a:ext cx="460857" cy="460857"/>
          </a:xfrm>
          <a:prstGeom prst="ellipse">
            <a:avLst/>
          </a:prstGeom>
          <a:solidFill>
            <a:srgbClr val="C6972A"/>
          </a:solidFill>
          <a:ln w="6350">
            <a:solidFill>
              <a:srgbClr val="C6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75189" y="3089300"/>
            <a:ext cx="460857" cy="3456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45" b="1" i="0">
                <a:solidFill>
                  <a:srgbClr val="0A0A0A"/>
                </a:solidFill>
                <a:latin typeface="Aptos"/>
              </a:rPr>
              <a:t>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5074920"/>
            <a:ext cx="32004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400" b="1" i="0">
                <a:solidFill>
                  <a:srgbClr val="C6972A"/>
                </a:solidFill>
                <a:latin typeface="Aptos Display"/>
              </a:rPr>
              <a:t>THANK YOU!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596128"/>
            <a:ext cx="30175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ptos"/>
              </a:rPr>
              <a:t>Any questions?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37376"/>
            <a:ext cx="97840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969696"/>
                </a:solidFill>
                <a:latin typeface="Aptos"/>
              </a:rPr>
              <a:t>Lamia Shady  •  Biobank &amp; Biospecimen Management System  •  MySQL + Python Tkinter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163</TotalTime>
  <Words>1981</Words>
  <Application>Microsoft Office PowerPoint</Application>
  <PresentationFormat>Widescreen</PresentationFormat>
  <Paragraphs>328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Neue Haas Grotesk Text Pro</vt:lpstr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lamiaa ayman</cp:lastModifiedBy>
  <cp:revision>2</cp:revision>
  <dcterms:created xsi:type="dcterms:W3CDTF">2013-01-27T09:14:16Z</dcterms:created>
  <dcterms:modified xsi:type="dcterms:W3CDTF">2026-08-15T18:32:52Z</dcterms:modified>
  <cp:category/>
</cp:coreProperties>
</file>