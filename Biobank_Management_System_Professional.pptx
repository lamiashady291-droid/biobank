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96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939257"/>
            <a:ext cx="5898630" cy="48037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1"/>
            <a:ext cx="12192000" cy="478403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C7B0B-C375-9D64-1424-3B07B71AF1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205927" y="4939715"/>
            <a:ext cx="4420031" cy="479458"/>
          </a:xfrm>
        </p:spPr>
        <p:txBody>
          <a:bodyPr anchor="t"/>
          <a:lstStyle>
            <a:lvl1pPr>
              <a:defRPr sz="1400"/>
            </a:lvl1pPr>
          </a:lstStyle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9117021-C08A-0E4F-5F64-FC1A870E481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762792" y="4939257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9001D668-DD9C-F5B4-B191-51BDD0B308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03035" y="5873424"/>
            <a:ext cx="1005840" cy="10058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09A08CF-24F0-EC7D-277D-CB831E7E7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9847" y="5718869"/>
            <a:ext cx="5916168" cy="1143000"/>
          </a:xfrm>
        </p:spPr>
        <p:txBody>
          <a:bodyPr anchor="b">
            <a:normAutofit/>
          </a:bodyPr>
          <a:lstStyle>
            <a:lvl1pPr>
              <a:lnSpc>
                <a:spcPct val="60000"/>
              </a:lnSpc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9667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406F310-2B8D-3C32-560C-686817E6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249" y="1012175"/>
            <a:ext cx="11113008" cy="84979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4FD1A6D-2D8E-1FD1-C1AC-CB5E9D5A1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2375" y="110364"/>
            <a:ext cx="527685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ADE430-EE65-B675-F031-7651DE9D6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305BC9-1670-00D4-5A66-F52444DA9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959" y="104649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496" y="2115542"/>
            <a:ext cx="11013670" cy="44515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0246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5457214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0" y="0"/>
            <a:ext cx="60960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134185-2980-312E-60AF-F360D16FB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8288" y="81290"/>
            <a:ext cx="4654296" cy="37398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3459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6174463"/>
            <a:ext cx="5891134" cy="65483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D29E0058-93A2-5291-6ACA-A043086266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03035" y="5873424"/>
            <a:ext cx="1005840" cy="100584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F14EE-EFB3-D2DC-CEAA-621D66627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3E0DC-DE5C-286F-36BD-6985F4A6C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207AF81-9CDB-689F-CE00-62257104E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70B1373-40A5-190F-BE9F-8FC310F7B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8288" y="2159632"/>
            <a:ext cx="9683496" cy="377647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08158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4E7A70C-B49B-5779-BA11-88AE4939E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77355" y="83125"/>
            <a:ext cx="731520" cy="73152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8197F50-0DC4-261A-813C-264E7361D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8288" y="2184032"/>
            <a:ext cx="8074152" cy="4718304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518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8288" y="82296"/>
            <a:ext cx="8139659" cy="1554480"/>
          </a:xfrm>
        </p:spPr>
        <p:txBody>
          <a:bodyPr anchor="t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-1" y="1896472"/>
            <a:ext cx="8139660" cy="3557904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400"/>
            </a:lvl1pPr>
            <a:lvl2pPr marL="571500" indent="-342900">
              <a:buFont typeface="+mj-lt"/>
              <a:buAutoNum type="arabicPeriod"/>
              <a:defRPr sz="14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75C8E38-E957-9E3C-9A05-717C0F009AB9}"/>
              </a:ext>
            </a:extLst>
          </p:cNvPr>
          <p:cNvSpPr/>
          <p:nvPr/>
        </p:nvSpPr>
        <p:spPr>
          <a:xfrm>
            <a:off x="8552512" y="3218512"/>
            <a:ext cx="3557904" cy="3557904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1E193C2-09EC-BB41-5A34-007D34EB8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62793" y="100701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425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6396" y="621792"/>
            <a:ext cx="5386715" cy="1816898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590664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90488" y="110364"/>
            <a:ext cx="534923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62793" y="110364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90488" y="2740228"/>
            <a:ext cx="5906642" cy="4096512"/>
          </a:xfrm>
        </p:spPr>
        <p:txBody>
          <a:bodyPr anchor="b">
            <a:normAutofit/>
          </a:bodyPr>
          <a:lstStyle>
            <a:lvl1pPr marL="342900" indent="-342900">
              <a:buFont typeface="+mj-lt"/>
              <a:buAutoNum type="arabicPeriod"/>
              <a:defRPr sz="1400"/>
            </a:lvl1pPr>
            <a:lvl2pPr marL="571500" indent="-342900">
              <a:buFont typeface="+mj-lt"/>
              <a:buAutoNum type="arabicPeriod"/>
              <a:defRPr sz="14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7577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0178B15-836F-D50E-D616-40C937324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645" y="987552"/>
            <a:ext cx="5366480" cy="4044508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3A196D4-110B-6911-7AF5-9149D3FFF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2150" y="100701"/>
            <a:ext cx="536648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A8D9253F-93F3-9EB9-BFA6-49C9461DE0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90488" y="100701"/>
            <a:ext cx="2940449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94C6C96-D651-5D6B-830B-07E5A3542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05731" y="100701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90488" y="969264"/>
            <a:ext cx="5336753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9012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496" y="988979"/>
            <a:ext cx="3462878" cy="294241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9910B-18FC-4A92-025A-A88AC7CD6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2150" y="100701"/>
            <a:ext cx="3470224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752728-D41A-655E-871F-F76147E0E9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7167" y="100701"/>
            <a:ext cx="2940449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E07CC96-728B-298D-B2D6-54C4E9F0E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05731" y="100701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17167" y="967689"/>
            <a:ext cx="7217771" cy="52371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146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7D0064E-1F0E-2DDF-C6B5-9CE196C4B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5804" y="612140"/>
            <a:ext cx="6499655" cy="151961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80401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D478DAE4-13AB-5772-07E6-B3264F1E314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4122" y="2457406"/>
            <a:ext cx="6441338" cy="3778977"/>
          </a:xfrm>
        </p:spPr>
        <p:txBody>
          <a:bodyPr anchor="t"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04122" y="6452990"/>
            <a:ext cx="1968375" cy="365125"/>
          </a:xfrm>
        </p:spPr>
        <p:txBody>
          <a:bodyPr anchor="b"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16252" y="6452989"/>
            <a:ext cx="429207" cy="365125"/>
          </a:xfrm>
        </p:spPr>
        <p:txBody>
          <a:bodyPr anchor="b"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832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CDF6858-35EF-4C90-B3F5-339B7EF1F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1793" y="621792"/>
            <a:ext cx="7252710" cy="113876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2FCF01F-6AD4-FD29-865E-65BD55CF89D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09088" y="2115404"/>
            <a:ext cx="7225415" cy="4212926"/>
          </a:xfrm>
        </p:spPr>
        <p:txBody>
          <a:bodyPr anchor="t" anchorCtr="0"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4F9B8FC8-8820-A655-2A18-E8F8FC2C72D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1793" y="6492875"/>
            <a:ext cx="1968375" cy="365125"/>
          </a:xfrm>
        </p:spPr>
        <p:txBody>
          <a:bodyPr anchor="b"/>
          <a:lstStyle/>
          <a:p>
            <a:endParaRPr lang="en-US"/>
          </a:p>
        </p:txBody>
      </p:sp>
      <p:sp>
        <p:nvSpPr>
          <p:cNvPr id="13" name="Date Placeholder 2">
            <a:extLst>
              <a:ext uri="{FF2B5EF4-FFF2-40B4-BE49-F238E27FC236}">
                <a16:creationId xmlns:a16="http://schemas.microsoft.com/office/drawing/2014/main" id="{A8C032E2-BBA3-EA74-8FE1-5AFC46A21AE1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9023903" y="6492875"/>
            <a:ext cx="1596200" cy="365125"/>
          </a:xfrm>
        </p:spPr>
        <p:txBody>
          <a:bodyPr anchor="b"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D28087CA-07B9-D0D2-3AA7-C34B5C9645B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05296" y="6492875"/>
            <a:ext cx="429207" cy="365125"/>
          </a:xfrm>
        </p:spPr>
        <p:txBody>
          <a:bodyPr anchor="b"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762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5">
            <a:extLst>
              <a:ext uri="{FF2B5EF4-FFF2-40B4-BE49-F238E27FC236}">
                <a16:creationId xmlns:a16="http://schemas.microsoft.com/office/drawing/2014/main" id="{7A932ED1-5750-0D24-8D58-961B6F20F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307" y="621792"/>
            <a:ext cx="7252710" cy="11387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01598DB3-17DB-7EDD-0F42-9866A753C2D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69602" y="2115404"/>
            <a:ext cx="7225415" cy="4212926"/>
          </a:xfrm>
        </p:spPr>
        <p:txBody>
          <a:bodyPr anchor="t" anchorCtr="0"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6C5AB1A9-786B-C92B-C6EA-63CE0AACFB1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68640" y="1"/>
            <a:ext cx="402336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C6115057-015C-DC83-074A-D22D9E0B6CD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42307" y="6492875"/>
            <a:ext cx="196837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8" name="Date Placeholder 1">
            <a:extLst>
              <a:ext uri="{FF2B5EF4-FFF2-40B4-BE49-F238E27FC236}">
                <a16:creationId xmlns:a16="http://schemas.microsoft.com/office/drawing/2014/main" id="{42028964-5597-F5F0-6AEA-C79255C9BCE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5284417" y="6492875"/>
            <a:ext cx="15962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B6324527-5F82-8213-FFB9-A5E6BEB2314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365810" y="649287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742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15000-16D8-B5F1-E35B-BAE97B4E6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615" y="621793"/>
            <a:ext cx="5326684" cy="1507454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B022A1E6-0A6D-9476-5034-0BDE3EE38B9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18616" y="2513110"/>
            <a:ext cx="5326683" cy="3568006"/>
          </a:xfrm>
        </p:spPr>
        <p:txBody>
          <a:bodyPr anchor="t" anchorCtr="0"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6B8D4096-4B0D-5226-C004-475A83BE8BF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308842" y="0"/>
            <a:ext cx="5883158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917C8CF-AEBF-835D-4503-06A0208049F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8615" y="6450237"/>
            <a:ext cx="1968375" cy="365125"/>
          </a:xfrm>
        </p:spPr>
        <p:txBody>
          <a:bodyPr anchor="b"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3662962-C2D0-E99D-BD6A-C97F4798F2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453953" y="6464979"/>
            <a:ext cx="429207" cy="365125"/>
          </a:xfrm>
        </p:spPr>
        <p:txBody>
          <a:bodyPr anchor="b"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2254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8B87BE0-867D-AF74-02DD-6F5420BC6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965" y="621792"/>
            <a:ext cx="4446871" cy="1867629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7B86FDEC-359F-20D5-12F6-5CBA3DC009E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3940" y="2890729"/>
            <a:ext cx="4449227" cy="3138438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FBEF9CB2-E8D7-8869-9B11-C58F1606DF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3570" y="0"/>
            <a:ext cx="682843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4784CE43-81E9-3B12-CB65-9B5FC6ECE9E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5618" y="6430476"/>
            <a:ext cx="1968375" cy="379867"/>
          </a:xfrm>
        </p:spPr>
        <p:txBody>
          <a:bodyPr anchor="b"/>
          <a:lstStyle/>
          <a:p>
            <a:endParaRPr lang="en-US"/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779F1775-5104-9F86-4A61-07F914947CC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563960" y="6430476"/>
            <a:ext cx="429207" cy="379867"/>
          </a:xfrm>
        </p:spPr>
        <p:txBody>
          <a:bodyPr anchor="b"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523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9733" y="621792"/>
            <a:ext cx="3884546" cy="2280501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74736F65-8A7D-D535-AAD0-31480F8AD31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7260609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87521" y="3211512"/>
            <a:ext cx="3884547" cy="27432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8">
            <a:extLst>
              <a:ext uri="{FF2B5EF4-FFF2-40B4-BE49-F238E27FC236}">
                <a16:creationId xmlns:a16="http://schemas.microsoft.com/office/drawing/2014/main" id="{C64245F1-97E2-FD23-26A5-03067F46469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49733" y="6456384"/>
            <a:ext cx="1968375" cy="379867"/>
          </a:xfrm>
        </p:spPr>
        <p:txBody>
          <a:bodyPr anchor="b"/>
          <a:lstStyle/>
          <a:p>
            <a:endParaRPr lang="en-US"/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5E75D5B-F407-F4DD-192B-D56CF168CDA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4152" y="6456385"/>
            <a:ext cx="429207" cy="379867"/>
          </a:xfrm>
        </p:spPr>
        <p:txBody>
          <a:bodyPr anchor="b"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7627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B686070-85E7-EB57-8965-F95F2692C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064" y="3608276"/>
            <a:ext cx="4428700" cy="2620587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429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4546533B-13A8-961D-BD05-8DE715F6340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68036" y="3579702"/>
            <a:ext cx="6298442" cy="262058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9349FD65-108E-79AD-A9C8-91429963386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262666" y="6442872"/>
            <a:ext cx="1968375" cy="379867"/>
          </a:xfrm>
        </p:spPr>
        <p:txBody>
          <a:bodyPr anchor="b"/>
          <a:lstStyle/>
          <a:p>
            <a:endParaRPr lang="en-US"/>
          </a:p>
        </p:txBody>
      </p: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547B7542-C2BA-4322-9FF4-E2713B917492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7697040" y="6442872"/>
            <a:ext cx="2295997" cy="379867"/>
          </a:xfrm>
        </p:spPr>
        <p:txBody>
          <a:bodyPr anchor="b"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EB058DA4-9F6F-CC80-D1C5-728E096806C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7271" y="6442873"/>
            <a:ext cx="429207" cy="379867"/>
          </a:xfrm>
        </p:spPr>
        <p:txBody>
          <a:bodyPr anchor="b"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2496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B0F469B-7972-C862-3265-20EC44D74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064" y="631710"/>
            <a:ext cx="11032239" cy="111520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1A9091ED-65DB-CA4C-BC68-EC773138EFA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09181" y="2115403"/>
            <a:ext cx="5786651" cy="4671431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A3F07A79-5344-FA17-3625-1266EFAA87F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0488" y="2115403"/>
            <a:ext cx="5353815" cy="4110888"/>
          </a:xfrm>
        </p:spPr>
        <p:txBody>
          <a:bodyPr anchor="t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C0D704B-E4D2-B261-890F-35C54C94C6E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6177425" y="6428984"/>
            <a:ext cx="4467829" cy="365125"/>
          </a:xfrm>
        </p:spPr>
        <p:txBody>
          <a:bodyPr anchor="b"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5932FFD-B632-F7EE-B653-9A621348C003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0926847" y="6421709"/>
            <a:ext cx="617457" cy="365125"/>
          </a:xfrm>
        </p:spPr>
        <p:txBody>
          <a:bodyPr anchor="b"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4599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348" y="644000"/>
            <a:ext cx="2594550" cy="1877132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6740" y="2899954"/>
            <a:ext cx="3610418" cy="331404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2183" y="644000"/>
            <a:ext cx="7183078" cy="557000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E471EB04-B63C-4629-0688-E2CC8C576A5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45926" y="6438284"/>
            <a:ext cx="5276852" cy="365125"/>
          </a:xfrm>
        </p:spPr>
        <p:txBody>
          <a:bodyPr anchor="b"/>
          <a:lstStyle/>
          <a:p>
            <a:endParaRPr lang="en-US"/>
          </a:p>
        </p:txBody>
      </p:sp>
      <p:sp>
        <p:nvSpPr>
          <p:cNvPr id="12" name="Date Placeholder 5">
            <a:extLst>
              <a:ext uri="{FF2B5EF4-FFF2-40B4-BE49-F238E27FC236}">
                <a16:creationId xmlns:a16="http://schemas.microsoft.com/office/drawing/2014/main" id="{A4924D77-E18C-D84A-F550-9B0188FEBF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190488" y="6432496"/>
            <a:ext cx="2544079" cy="365125"/>
          </a:xfrm>
        </p:spPr>
        <p:txBody>
          <a:bodyPr anchor="b"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14" name="Slide Number Placeholder 8">
            <a:extLst>
              <a:ext uri="{FF2B5EF4-FFF2-40B4-BE49-F238E27FC236}">
                <a16:creationId xmlns:a16="http://schemas.microsoft.com/office/drawing/2014/main" id="{38B4B455-40D3-EF76-D860-2A6FFBF6983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99128" y="6438284"/>
            <a:ext cx="429207" cy="365125"/>
          </a:xfrm>
        </p:spPr>
        <p:txBody>
          <a:bodyPr anchor="b"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5556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504688"/>
            <a:ext cx="5902657" cy="1353312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-54591" y="-156950"/>
            <a:ext cx="5957248" cy="4510586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 i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10101" y="5852160"/>
            <a:ext cx="1005840" cy="100584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62793" y="100701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2478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0058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6453" y="5852160"/>
            <a:ext cx="1005840" cy="1005840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6F777942-A24A-16CB-2115-A16E397BBB0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91D0C3F1-69CA-2A45-33F7-9AF4B8FFEDB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DB65802-3866-05DF-F96B-15A117F7C7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-17470" y="1016759"/>
            <a:ext cx="10082693" cy="584124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144464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83347" y="5852160"/>
            <a:ext cx="1005840" cy="100584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CA0FBB42-F049-CCA6-45E1-D60DC58A76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5899926"/>
            <a:ext cx="5902657" cy="958073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2B5E50A9-B175-CA38-A22A-468AE7533B5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-18288" y="95534"/>
            <a:ext cx="8961120" cy="4476466"/>
          </a:xfrm>
        </p:spPr>
        <p:txBody>
          <a:bodyPr anchor="t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84D7E47A-F89A-8F43-C300-185AD1461C0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762793" y="110364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1CA01B7F-0CDC-9F0A-6B3B-A87674D14D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93030" y="6392564"/>
            <a:ext cx="3104866" cy="365125"/>
          </a:xfrm>
        </p:spPr>
        <p:txBody>
          <a:bodyPr anchor="b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2336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A74F0-5415-CAD7-98B3-4A75913F4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064" y="987552"/>
            <a:ext cx="3465576" cy="29443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51E178-0505-15CE-6ACB-7BE1FB1E5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0353" y="110364"/>
            <a:ext cx="347472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82246E-2BFA-5BAA-F22D-A2618C05A0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5968" y="104576"/>
            <a:ext cx="483688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4BA02B-433E-FB95-6E96-11393CDBD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74B4B98-ABA0-9FD3-485A-984EDEEB446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315966" y="987552"/>
            <a:ext cx="7446825" cy="25603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3822067E-4B47-03C7-3636-0C6F8324E1E9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315967" y="3931920"/>
            <a:ext cx="7446824" cy="25603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27458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F29C1-2D4D-0529-EAD3-926838F41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064" y="630936"/>
            <a:ext cx="11018520" cy="10883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6A1D5A-FFC5-5F10-90D2-A3FBCC312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0352" y="110364"/>
            <a:ext cx="527685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1BD63D-FC9C-D946-5560-869AEDE315E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90488" y="104576"/>
            <a:ext cx="483688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2EF08D-93E2-AF7A-F559-DDB0B35B8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8CB9E0-8B46-6608-0C37-7C5ABA9B4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352" y="2286000"/>
            <a:ext cx="5184648" cy="534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C2C05A59-CCEE-1225-7022-B1DA682C704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30351" y="2980943"/>
            <a:ext cx="5183188" cy="35861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6471C19-5F51-6595-B72A-4BFC1E553D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90488" y="2286000"/>
            <a:ext cx="5183188" cy="534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0AB20C10-A144-EF5E-8276-7E736CE8759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190488" y="2980944"/>
            <a:ext cx="5183188" cy="358611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36455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D1F904E-1F4C-373E-2E2B-D7478F70F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20" y="644663"/>
            <a:ext cx="11045952" cy="10883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0352" y="109728"/>
            <a:ext cx="527685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1928" y="110364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79925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AD1B27E-1142-7BB8-1DE8-D31FA8AA8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100701"/>
            <a:ext cx="589863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D900E2BC-FCC7-E994-4648-A42CDE5186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17920" y="100701"/>
            <a:ext cx="5332001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E211A59-CFA8-A0B1-4A4C-E446F9072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62793" y="100701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7919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926" y="655093"/>
            <a:ext cx="10982409" cy="1528549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5926" y="2497540"/>
            <a:ext cx="10982409" cy="3384645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BD7A9B30-35AB-D437-5276-473CFE5169D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45926" y="6438284"/>
            <a:ext cx="527685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0D033E8C-C8B6-A9F1-6B99-0610AEC435CB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190488" y="6432496"/>
            <a:ext cx="2544079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09C00759-43C5-D4A5-6597-C9F31C4DA2A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99128" y="6438284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723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615" y="2883090"/>
            <a:ext cx="7741851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C9D34928-44CA-ACCE-36AD-37689020A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6906" y="100701"/>
            <a:ext cx="5361724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B6F43E62-A9B0-571B-E3BD-354206A884C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17921" y="100701"/>
            <a:ext cx="252603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6905" y="4922111"/>
            <a:ext cx="7741850" cy="1279615"/>
          </a:xfrm>
        </p:spPr>
        <p:txBody>
          <a:bodyPr anchor="t"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62793" y="6392174"/>
            <a:ext cx="429207" cy="365125"/>
          </a:xfrm>
        </p:spPr>
        <p:txBody>
          <a:bodyPr anchor="b"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3CF16D9-01F3-6CE6-7291-C344E099BBD0}"/>
              </a:ext>
            </a:extLst>
          </p:cNvPr>
          <p:cNvSpPr/>
          <p:nvPr/>
        </p:nvSpPr>
        <p:spPr>
          <a:xfrm>
            <a:off x="8454179" y="100701"/>
            <a:ext cx="3557904" cy="3557904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77480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8288" y="644663"/>
            <a:ext cx="12001592" cy="1088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190488" y="104576"/>
            <a:ext cx="4836883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 rtl="0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01" y="110364"/>
            <a:ext cx="5276852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 rtl="0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2792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 rtl="0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1907521"/>
            <a:ext cx="12001592" cy="48401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321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835640" y="384048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954512" y="384048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073384" y="384048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1192256" y="384048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835640" y="502920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954512" y="502920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073384" y="502920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192256" y="502920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835640" y="621792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954512" y="621792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1073384" y="621792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1192256" y="621792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835640" y="740664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954512" y="740664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1073384" y="740664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1192256" y="740664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835640" y="859536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954512" y="859536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1073384" y="859536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1192256" y="859536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1143000"/>
            <a:ext cx="5486400" cy="59436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Aptos Display"/>
              </a:rPr>
              <a:t>BIOBANK &amp;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755648"/>
            <a:ext cx="5486400" cy="65836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3800" b="1" i="0">
                <a:solidFill>
                  <a:srgbClr val="C6972A"/>
                </a:solidFill>
                <a:latin typeface="Aptos Display"/>
              </a:rPr>
              <a:t>BIOSPECIMEN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441448"/>
            <a:ext cx="5943600" cy="53035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ptos Display"/>
              </a:rPr>
              <a:t>MANAGEMENT SYSTEM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85216" y="3154680"/>
            <a:ext cx="4764024" cy="0"/>
          </a:xfrm>
          <a:prstGeom prst="line">
            <a:avLst/>
          </a:prstGeom>
          <a:ln w="25400">
            <a:solidFill>
              <a:srgbClr val="C69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94360" y="3364992"/>
            <a:ext cx="5212080" cy="64008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500" b="0" i="0">
                <a:solidFill>
                  <a:srgbClr val="CDCDCD"/>
                </a:solidFill>
                <a:latin typeface="Aptos"/>
              </a:rPr>
              <a:t>Database design, SQL operations &amp; connected Python GUI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926222"/>
            <a:ext cx="1202072" cy="22467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 i="1" dirty="0">
                <a:solidFill>
                  <a:srgbClr val="C6972A"/>
                </a:solidFill>
                <a:latin typeface="Aptos"/>
              </a:rPr>
              <a:t>Prepared</a:t>
            </a:r>
            <a:r>
              <a:rPr sz="1100" b="1" i="0" dirty="0">
                <a:solidFill>
                  <a:srgbClr val="C6972A"/>
                </a:solidFill>
                <a:latin typeface="Aptos"/>
              </a:rPr>
              <a:t> by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138130"/>
            <a:ext cx="1469109" cy="54784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  <a:latin typeface="Aptos"/>
              </a:rPr>
              <a:t>Lamia Shady</a:t>
            </a:r>
            <a:endParaRPr lang="ar-EG" sz="1600" b="1" i="0" dirty="0">
              <a:solidFill>
                <a:srgbClr val="FFFFFF"/>
              </a:solidFill>
              <a:latin typeface="Aptos"/>
            </a:endParaRPr>
          </a:p>
          <a:p>
            <a:pPr algn="l"/>
            <a:r>
              <a:rPr lang="ar-EG" sz="1600" b="1" dirty="0">
                <a:solidFill>
                  <a:srgbClr val="FFFFFF"/>
                </a:solidFill>
                <a:latin typeface="Aptos"/>
              </a:rPr>
              <a:t>241002351</a:t>
            </a:r>
            <a:endParaRPr sz="1600" b="1" i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94360" y="5623560"/>
            <a:ext cx="4297680" cy="27432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50" b="0" i="0">
                <a:solidFill>
                  <a:srgbClr val="AFAFAF"/>
                </a:solidFill>
                <a:latin typeface="Aptos"/>
              </a:rPr>
              <a:t>Database Management System • MySQL • 2026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66760" y="1874519"/>
            <a:ext cx="2319832" cy="593445"/>
          </a:xfrm>
          <a:prstGeom prst="roundRect">
            <a:avLst/>
          </a:prstGeom>
          <a:solidFill>
            <a:srgbClr val="0A0A0A"/>
          </a:solidFill>
          <a:ln w="25400"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8604138" y="2165847"/>
            <a:ext cx="1845076" cy="0"/>
          </a:xfrm>
          <a:prstGeom prst="line">
            <a:avLst/>
          </a:prstGeom>
          <a:ln w="12700">
            <a:solidFill>
              <a:srgbClr val="E1B7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366760" y="2392436"/>
            <a:ext cx="2319832" cy="593445"/>
          </a:xfrm>
          <a:prstGeom prst="roundRect">
            <a:avLst/>
          </a:prstGeom>
          <a:solidFill>
            <a:srgbClr val="0A0A0A"/>
          </a:solidFill>
          <a:ln w="25400"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8604138" y="2683763"/>
            <a:ext cx="1845076" cy="0"/>
          </a:xfrm>
          <a:prstGeom prst="line">
            <a:avLst/>
          </a:prstGeom>
          <a:ln w="12700">
            <a:solidFill>
              <a:srgbClr val="E1B7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366760" y="2813243"/>
            <a:ext cx="2319832" cy="593445"/>
          </a:xfrm>
          <a:prstGeom prst="roundRect">
            <a:avLst/>
          </a:prstGeom>
          <a:solidFill>
            <a:srgbClr val="0A0A0A"/>
          </a:solidFill>
          <a:ln w="25400"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" name="Connector 35"/>
          <p:cNvCxnSpPr/>
          <p:nvPr/>
        </p:nvCxnSpPr>
        <p:spPr>
          <a:xfrm>
            <a:off x="8604138" y="3201680"/>
            <a:ext cx="1845076" cy="0"/>
          </a:xfrm>
          <a:prstGeom prst="line">
            <a:avLst/>
          </a:prstGeom>
          <a:ln w="12700">
            <a:solidFill>
              <a:srgbClr val="E1B7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0071567" y="3115360"/>
            <a:ext cx="517916" cy="517916"/>
          </a:xfrm>
          <a:prstGeom prst="ellipse">
            <a:avLst/>
          </a:prstGeom>
          <a:solidFill>
            <a:srgbClr val="C6972A"/>
          </a:solidFill>
          <a:ln w="6350"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071567" y="3136940"/>
            <a:ext cx="517916" cy="388437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062" b="1" i="0">
                <a:solidFill>
                  <a:srgbClr val="0A0A0A"/>
                </a:solidFill>
                <a:latin typeface="Aptos"/>
              </a:rPr>
              <a:t>DB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315200" y="3886200"/>
            <a:ext cx="3886200" cy="0"/>
          </a:xfrm>
          <a:prstGeom prst="line">
            <a:avLst/>
          </a:prstGeom>
          <a:ln w="10160">
            <a:solidFill>
              <a:srgbClr val="C69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7315200" y="3840480"/>
            <a:ext cx="91440" cy="91440"/>
          </a:xfrm>
          <a:prstGeom prst="ellipse">
            <a:avLst/>
          </a:prstGeom>
          <a:solidFill>
            <a:srgbClr val="C6972A"/>
          </a:solidFill>
          <a:ln w="6350"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1155680" y="3840480"/>
            <a:ext cx="91440" cy="91440"/>
          </a:xfrm>
          <a:prstGeom prst="ellipse">
            <a:avLst/>
          </a:prstGeom>
          <a:solidFill>
            <a:srgbClr val="C6972A"/>
          </a:solidFill>
          <a:ln w="6350"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109960" y="6080760"/>
            <a:ext cx="502920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r"/>
            <a:r>
              <a:rPr sz="1100" b="1" i="0">
                <a:solidFill>
                  <a:srgbClr val="C6972A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502920" cy="32918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C6972A"/>
                </a:solidFill>
                <a:latin typeface="Apto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56032"/>
            <a:ext cx="9966960" cy="3931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2200" b="1" i="0" dirty="0">
                <a:solidFill>
                  <a:srgbClr val="0A0A0A"/>
                </a:solidFill>
                <a:latin typeface="Aptos Display"/>
              </a:rP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76656"/>
            <a:ext cx="10241280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050" b="0" i="0">
                <a:solidFill>
                  <a:srgbClr val="5F5F5F"/>
                </a:solidFill>
                <a:latin typeface="Aptos"/>
              </a:rPr>
              <a:t>Problem, objective and practical solution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024128"/>
            <a:ext cx="11338560" cy="0"/>
          </a:xfrm>
          <a:prstGeom prst="line">
            <a:avLst/>
          </a:prstGeom>
          <a:ln w="12700">
            <a:solidFill>
              <a:srgbClr val="C69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7772400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750" b="0" i="0">
                <a:solidFill>
                  <a:srgbClr val="969696"/>
                </a:solidFill>
                <a:latin typeface="Aptos"/>
              </a:rPr>
              <a:t>BIOBANK &amp; BIOSPECIMEN MANAGEMENT SYSTEM  •  MySQL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64808"/>
            <a:ext cx="502920" cy="22860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r"/>
            <a:r>
              <a:rPr sz="900" b="1" i="0">
                <a:solidFill>
                  <a:srgbClr val="C6972A"/>
                </a:solidFill>
                <a:latin typeface="Aptos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3566160" cy="443484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64008" cy="4434840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85800" y="1508760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513332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108" y="1536190"/>
            <a:ext cx="991671" cy="33239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b="1" i="0" dirty="0">
                <a:solidFill>
                  <a:srgbClr val="0A0A0A"/>
                </a:solidFill>
                <a:latin typeface="Aptos"/>
              </a:rPr>
              <a:t>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704" y="1892807"/>
            <a:ext cx="4213219" cy="177894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Biobank information 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becomes difficult to manage when donors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, samples and laboratory activities are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stored without a structured 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relational design.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The project organizes these records 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so they can be stored, related,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queried and</a:t>
            </a:r>
            <a:r>
              <a:rPr lang="ar-EG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maintained consistently.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325880"/>
            <a:ext cx="3566160" cy="443484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15968" y="1325880"/>
            <a:ext cx="64008" cy="4434840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498848" y="1508760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98848" y="1513332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1490472"/>
            <a:ext cx="1061444" cy="332399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b="1" i="0" dirty="0">
                <a:solidFill>
                  <a:srgbClr val="0A0A0A"/>
                </a:solidFill>
                <a:latin typeface="Aptos"/>
              </a:rPr>
              <a:t>Objective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8798" y="1935693"/>
            <a:ext cx="3732514" cy="136491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Design and implement a MySQL relational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database for biobank and biospecimen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management. The system demonstrates 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entities, relationships, keys, constraints, 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normalization, SQL operations, views,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a trigger and testing.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1325880"/>
            <a:ext cx="3566160" cy="443484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29016" y="1325880"/>
            <a:ext cx="64008" cy="4434840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311896" y="1508760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11896" y="1513332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50808" y="1490472"/>
            <a:ext cx="2761488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50" b="1" i="0">
                <a:solidFill>
                  <a:srgbClr val="0A0A0A"/>
                </a:solidFill>
                <a:latin typeface="Aptos"/>
              </a:rPr>
              <a:t>Solution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9912" y="1868589"/>
            <a:ext cx="2966389" cy="1563505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MySQL stores the structured data,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while Python </a:t>
            </a:r>
            <a:r>
              <a:rPr sz="1400" b="1" i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Tkinter</a:t>
            </a:r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provides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a connected desktop interface.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The GUI can display donor records, 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search for a donor and 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add new donor information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directly to the database.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502920" cy="32918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C6972A"/>
                </a:solidFill>
                <a:latin typeface="Apto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56032"/>
            <a:ext cx="9966960" cy="3931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2200" b="1" i="0">
                <a:solidFill>
                  <a:srgbClr val="0A0A0A"/>
                </a:solidFill>
                <a:latin typeface="Aptos Display"/>
              </a:rPr>
              <a:t>SYSTEM SCOPE &amp; 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76656"/>
            <a:ext cx="10241280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050" b="0" i="0">
                <a:solidFill>
                  <a:srgbClr val="5F5F5F"/>
                </a:solidFill>
                <a:latin typeface="Aptos"/>
              </a:rPr>
              <a:t>What the database is responsible for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024128"/>
            <a:ext cx="11338560" cy="0"/>
          </a:xfrm>
          <a:prstGeom prst="line">
            <a:avLst/>
          </a:prstGeom>
          <a:ln w="12700">
            <a:solidFill>
              <a:srgbClr val="C69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7772400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750" b="0" i="0">
                <a:solidFill>
                  <a:srgbClr val="969696"/>
                </a:solidFill>
                <a:latin typeface="Aptos"/>
              </a:rPr>
              <a:t>BIOBANK &amp; BIOSPECIMEN MANAGEMENT SYSTEM  •  MySQL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64808"/>
            <a:ext cx="502920" cy="22860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r"/>
            <a:r>
              <a:rPr sz="900" b="1" i="0">
                <a:solidFill>
                  <a:srgbClr val="C6972A"/>
                </a:solidFill>
                <a:latin typeface="Apto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2820" y="1353222"/>
            <a:ext cx="2194773" cy="147336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554875" y="1490472"/>
            <a:ext cx="1728216" cy="47548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2600" b="1" i="0" dirty="0">
                <a:solidFill>
                  <a:srgbClr val="C6972A"/>
                </a:solidFill>
                <a:latin typeface="Aptos Display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3553" y="1925688"/>
            <a:ext cx="997412" cy="24006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200" b="1" i="0" dirty="0">
                <a:solidFill>
                  <a:srgbClr val="0A0A0A"/>
                </a:solidFill>
                <a:latin typeface="Aptos"/>
              </a:rPr>
              <a:t>MAIN 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966" y="2232418"/>
            <a:ext cx="2251514" cy="39395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The implemented relational</a:t>
            </a:r>
            <a:endParaRPr lang="ar-EG" sz="11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schema contains ten main tables.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97480" y="1325879"/>
            <a:ext cx="2057400" cy="1506221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74539" y="1490472"/>
            <a:ext cx="1815749" cy="45550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2600" b="1" i="0" dirty="0">
                <a:solidFill>
                  <a:srgbClr val="C6972A"/>
                </a:solidFill>
                <a:latin typeface="Aptos Display"/>
              </a:rPr>
              <a:t>3NF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4753" y="1929939"/>
            <a:ext cx="1218154" cy="240066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200" b="1" i="0" dirty="0">
                <a:solidFill>
                  <a:srgbClr val="0A0A0A"/>
                </a:solidFill>
                <a:latin typeface="Aptos"/>
              </a:rPr>
              <a:t>NORMALIZATIO</a:t>
            </a:r>
            <a:r>
              <a:rPr sz="900" b="1" i="0" dirty="0">
                <a:solidFill>
                  <a:srgbClr val="0A0A0A"/>
                </a:solidFill>
                <a:latin typeface="Aptos"/>
              </a:rPr>
              <a:t>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29" y="2220301"/>
            <a:ext cx="1936556" cy="42473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The design was normalized</a:t>
            </a:r>
            <a:endParaRPr lang="ar-EG" sz="12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to Third Normal Form.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95094" y="1325879"/>
            <a:ext cx="2154346" cy="1506213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76558" y="1490472"/>
            <a:ext cx="1728216" cy="47548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2600" b="1" i="0" dirty="0">
                <a:solidFill>
                  <a:srgbClr val="C6972A"/>
                </a:solidFill>
                <a:latin typeface="Aptos Display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6558" y="1913314"/>
            <a:ext cx="1279325" cy="240066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200" b="1" i="0" dirty="0">
                <a:solidFill>
                  <a:srgbClr val="0A0A0A"/>
                </a:solidFill>
                <a:latin typeface="Aptos"/>
              </a:rPr>
              <a:t>DATABASE VIEWS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9471" y="2203785"/>
            <a:ext cx="1600695" cy="39395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Donor</a:t>
            </a:r>
            <a:r>
              <a:rPr lang="ar-EG"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Sample</a:t>
            </a:r>
            <a:r>
              <a:rPr lang="ar-EG"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View and</a:t>
            </a:r>
            <a:endParaRPr lang="ar-EG" sz="11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Research</a:t>
            </a:r>
            <a:r>
              <a:rPr lang="ar-EG"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Test</a:t>
            </a:r>
            <a:r>
              <a:rPr lang="ar-EG"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View.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7228" y="1325879"/>
            <a:ext cx="2224215" cy="150866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91756" y="1481883"/>
            <a:ext cx="1728216" cy="47548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2600" b="1" i="0" dirty="0">
                <a:solidFill>
                  <a:srgbClr val="C6972A"/>
                </a:solidFill>
                <a:latin typeface="Aptos Display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0904" y="1926491"/>
            <a:ext cx="683777" cy="240066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TRIGGER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9222" y="2208930"/>
            <a:ext cx="1706493" cy="39395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Validates sample usage</a:t>
            </a:r>
            <a:endParaRPr lang="ar-EG" sz="11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quantity before insertion.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77247" y="1410711"/>
            <a:ext cx="2206262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45752" y="1490472"/>
            <a:ext cx="1728216" cy="47548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2600" b="1" i="0" dirty="0">
                <a:solidFill>
                  <a:srgbClr val="C6972A"/>
                </a:solidFill>
                <a:latin typeface="Aptos Display"/>
              </a:rPr>
              <a:t>GUI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9298" y="1900750"/>
            <a:ext cx="1237390" cy="240066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BONUS FEATURE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645" y="2214074"/>
            <a:ext cx="1935723" cy="39395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Python </a:t>
            </a:r>
            <a:r>
              <a:rPr lang="en-US"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T</a:t>
            </a:r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k</a:t>
            </a:r>
            <a:r>
              <a:rPr lang="ar-EG" sz="1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inter </a:t>
            </a:r>
            <a:endParaRPr lang="ar-EG" sz="11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connected directly to MySQL.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2926080"/>
            <a:ext cx="3611880" cy="242316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02920" y="2926080"/>
            <a:ext cx="64008" cy="2423160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85800" y="3108960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5800" y="3113532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" y="3090672"/>
            <a:ext cx="1842749" cy="332399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b="1" i="0" dirty="0">
                <a:solidFill>
                  <a:srgbClr val="0A0A0A"/>
                </a:solidFill>
                <a:latin typeface="Aptos"/>
              </a:rPr>
              <a:t>Donor &amp; Consent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159" y="3517045"/>
            <a:ext cx="3523529" cy="701731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Donors stores personal donor information.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Consent stores consent date, 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type and status linked to the donor.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79392" y="2926080"/>
            <a:ext cx="3611880" cy="242316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79392" y="2926080"/>
            <a:ext cx="64008" cy="2423160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4462272" y="3108960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462272" y="3113532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01183" y="3090672"/>
            <a:ext cx="2024272" cy="332399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b="1" i="0" dirty="0">
                <a:solidFill>
                  <a:srgbClr val="0A0A0A"/>
                </a:solidFill>
                <a:latin typeface="Aptos"/>
              </a:rPr>
              <a:t>Samples &amp; Storage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72288" y="3493008"/>
            <a:ext cx="3743012" cy="113261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Sample</a:t>
            </a:r>
            <a:r>
              <a:rPr lang="ar-EG"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Types defines sample categories. 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Collection</a:t>
            </a:r>
            <a:r>
              <a:rPr lang="ar-EG"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Events records collection activity. 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Samples stores collected samples.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Storage</a:t>
            </a:r>
            <a:r>
              <a:rPr lang="ar-EG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Locations records freezer and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temperature information.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21028" y="2953510"/>
            <a:ext cx="3972978" cy="2395729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074151" y="2909031"/>
            <a:ext cx="64008" cy="2423160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8238744" y="3108960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38744" y="3113532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77656" y="3090672"/>
            <a:ext cx="2032992" cy="332399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Research &amp; Testing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77230" y="3542032"/>
            <a:ext cx="4067652" cy="113261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Researchers manage researcher information.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Test</a:t>
            </a:r>
            <a:r>
              <a:rPr lang="ar-EG"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Requests records requested tests.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Test</a:t>
            </a:r>
            <a:r>
              <a:rPr lang="ar-EG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Request</a:t>
            </a:r>
            <a:r>
              <a:rPr lang="ar-EG"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Samples resolves 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the many-to-many relationship.</a:t>
            </a:r>
            <a:endParaRPr lang="ar-EG" sz="14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Sample</a:t>
            </a:r>
            <a:r>
              <a:rPr lang="ar-EG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sz="14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Usage tracks researcher use of samples.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502920" cy="32918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C6972A"/>
                </a:solidFill>
                <a:latin typeface="Apto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56032"/>
            <a:ext cx="9966960" cy="3931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2200" b="1" i="0">
                <a:solidFill>
                  <a:srgbClr val="0A0A0A"/>
                </a:solidFill>
                <a:latin typeface="Aptos Display"/>
              </a:rPr>
              <a:t>CONCEPTUAL DESIGN — ER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76656"/>
            <a:ext cx="10241280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050" b="0" i="0">
                <a:solidFill>
                  <a:srgbClr val="5F5F5F"/>
                </a:solidFill>
                <a:latin typeface="Aptos"/>
              </a:rPr>
              <a:t>Entities, relationships and cardinality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024128"/>
            <a:ext cx="11338560" cy="0"/>
          </a:xfrm>
          <a:prstGeom prst="line">
            <a:avLst/>
          </a:prstGeom>
          <a:ln w="12700">
            <a:solidFill>
              <a:srgbClr val="C69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7772400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750" b="0" i="0">
                <a:solidFill>
                  <a:srgbClr val="969696"/>
                </a:solidFill>
                <a:latin typeface="Aptos"/>
              </a:rPr>
              <a:t>BIOBANK &amp; BIOSPECIMEN MANAGEMENT SYSTEM  •  MySQL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64808"/>
            <a:ext cx="502920" cy="22860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r"/>
            <a:r>
              <a:rPr sz="900" b="1" i="0">
                <a:solidFill>
                  <a:srgbClr val="C6972A"/>
                </a:solidFill>
                <a:latin typeface="Apto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7360920" cy="4892040"/>
          </a:xfrm>
          <a:prstGeom prst="roundRect">
            <a:avLst/>
          </a:prstGeom>
          <a:solidFill>
            <a:srgbClr val="FAF9F5"/>
          </a:solidFill>
          <a:ln w="17780">
            <a:solidFill>
              <a:srgbClr val="C6972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8952" y="5687568"/>
            <a:ext cx="6848856" cy="310896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850" b="0" i="1">
                <a:solidFill>
                  <a:srgbClr val="969696"/>
                </a:solidFill>
                <a:latin typeface="Aptos"/>
              </a:rPr>
              <a:t>Use the complete ERD with table names, PK/FK fields and relationship lines.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298448"/>
            <a:ext cx="3566160" cy="489204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572768"/>
            <a:ext cx="3063240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Aptos"/>
              </a:rPr>
              <a:t>KEY RELATIONSHIPS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029968"/>
            <a:ext cx="2971800" cy="32461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700"/>
              </a:spcAft>
              <a:defRPr sz="1050" b="0">
                <a:solidFill>
                  <a:srgbClr val="0A0A0A"/>
                </a:solidFill>
                <a:latin typeface="Aptos"/>
              </a:defRPr>
            </a:pPr>
            <a:r>
              <a:t>• Donor 1 : Many Consent</a:t>
            </a:r>
          </a:p>
          <a:p>
            <a:pPr>
              <a:spcAft>
                <a:spcPts val="700"/>
              </a:spcAft>
              <a:defRPr sz="1050" b="0">
                <a:solidFill>
                  <a:srgbClr val="0A0A0A"/>
                </a:solidFill>
                <a:latin typeface="Aptos"/>
              </a:defRPr>
            </a:pPr>
            <a:r>
              <a:t>• Donor 1 : Many CollectionEvents</a:t>
            </a:r>
          </a:p>
          <a:p>
            <a:pPr>
              <a:spcAft>
                <a:spcPts val="700"/>
              </a:spcAft>
              <a:defRPr sz="1050" b="0">
                <a:solidFill>
                  <a:srgbClr val="0A0A0A"/>
                </a:solidFill>
                <a:latin typeface="Aptos"/>
              </a:defRPr>
            </a:pPr>
            <a:r>
              <a:t>• CollectionEvent 1 : Many Samples</a:t>
            </a:r>
          </a:p>
          <a:p>
            <a:pPr>
              <a:spcAft>
                <a:spcPts val="700"/>
              </a:spcAft>
              <a:defRPr sz="1050" b="0">
                <a:solidFill>
                  <a:srgbClr val="0A0A0A"/>
                </a:solidFill>
                <a:latin typeface="Aptos"/>
              </a:defRPr>
            </a:pPr>
            <a:r>
              <a:t>• SampleType 1 : Many Samples</a:t>
            </a:r>
          </a:p>
          <a:p>
            <a:pPr>
              <a:spcAft>
                <a:spcPts val="700"/>
              </a:spcAft>
              <a:defRPr sz="1050" b="0">
                <a:solidFill>
                  <a:srgbClr val="0A0A0A"/>
                </a:solidFill>
                <a:latin typeface="Aptos"/>
              </a:defRPr>
            </a:pPr>
            <a:r>
              <a:t>• StorageLocation 1 : Many Samples</a:t>
            </a:r>
          </a:p>
          <a:p>
            <a:pPr>
              <a:spcAft>
                <a:spcPts val="700"/>
              </a:spcAft>
              <a:defRPr sz="1050" b="0">
                <a:solidFill>
                  <a:srgbClr val="0A0A0A"/>
                </a:solidFill>
                <a:latin typeface="Aptos"/>
              </a:defRPr>
            </a:pPr>
            <a:r>
              <a:t>• Researcher 1 : Many TestRequests</a:t>
            </a:r>
          </a:p>
          <a:p>
            <a:pPr>
              <a:spcAft>
                <a:spcPts val="700"/>
              </a:spcAft>
              <a:defRPr sz="1050" b="0">
                <a:solidFill>
                  <a:srgbClr val="0A0A0A"/>
                </a:solidFill>
                <a:latin typeface="Aptos"/>
              </a:defRPr>
            </a:pPr>
            <a:r>
              <a:t>• TestRequest Many : Many Sample → TestRequestSamples</a:t>
            </a:r>
          </a:p>
          <a:p>
            <a:pPr>
              <a:spcAft>
                <a:spcPts val="700"/>
              </a:spcAft>
              <a:defRPr sz="1050" b="0">
                <a:solidFill>
                  <a:srgbClr val="0A0A0A"/>
                </a:solidFill>
                <a:latin typeface="Aptos"/>
              </a:defRPr>
            </a:pPr>
            <a:r>
              <a:t>• Researcher Many : Many Sample → SampleUsage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5440680"/>
            <a:ext cx="2971800" cy="475488"/>
          </a:xfrm>
          <a:prstGeom prst="roundRect">
            <a:avLst/>
          </a:prstGeom>
          <a:solidFill>
            <a:srgbClr val="F2E7C7"/>
          </a:solidFill>
          <a:ln w="10160"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85632" y="5532120"/>
            <a:ext cx="2743200" cy="22860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850" b="1" i="0">
                <a:solidFill>
                  <a:srgbClr val="0A0A0A"/>
                </a:solidFill>
                <a:latin typeface="Aptos"/>
              </a:rPr>
              <a:t>Associative tables preserve many-to-many relationships.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F944389-BCE4-242A-C0CB-304A7A19C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" y="1321004"/>
            <a:ext cx="7269480" cy="4892648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502920" cy="32918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C6972A"/>
                </a:solidFill>
                <a:latin typeface="Apto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56032"/>
            <a:ext cx="9966960" cy="3931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2200" b="1" i="0">
                <a:solidFill>
                  <a:srgbClr val="0A0A0A"/>
                </a:solidFill>
                <a:latin typeface="Aptos Display"/>
              </a:rPr>
              <a:t>RELATIONAL SCHEMA &amp; NORMALIZATION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76656"/>
            <a:ext cx="10241280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050" b="0" i="0">
                <a:solidFill>
                  <a:srgbClr val="5F5F5F"/>
                </a:solidFill>
                <a:latin typeface="Aptos"/>
              </a:rPr>
              <a:t>How the ER model was converted into MySQL tables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024128"/>
            <a:ext cx="11338560" cy="0"/>
          </a:xfrm>
          <a:prstGeom prst="line">
            <a:avLst/>
          </a:prstGeom>
          <a:ln w="12700">
            <a:solidFill>
              <a:srgbClr val="C69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7772400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750" b="0" i="0">
                <a:solidFill>
                  <a:srgbClr val="969696"/>
                </a:solidFill>
                <a:latin typeface="Aptos"/>
              </a:rPr>
              <a:t>BIOBANK &amp; BIOSPECIMEN MANAGEMENT SYSTEM  •  MySQL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64808"/>
            <a:ext cx="502920" cy="22860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r"/>
            <a:r>
              <a:rPr sz="900" b="1" i="0">
                <a:solidFill>
                  <a:srgbClr val="C6972A"/>
                </a:solidFill>
                <a:latin typeface="Aptos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51494"/>
            <a:ext cx="6720840" cy="5074920"/>
          </a:xfrm>
          <a:prstGeom prst="roundRect">
            <a:avLst/>
          </a:prstGeom>
          <a:solidFill>
            <a:srgbClr val="F8F6F0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1572768"/>
            <a:ext cx="2351734" cy="332399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b="1" i="0" dirty="0">
                <a:solidFill>
                  <a:srgbClr val="0A0A0A"/>
                </a:solidFill>
                <a:latin typeface="Aptos"/>
              </a:rPr>
              <a:t>RELATIONAL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965960"/>
            <a:ext cx="6172200" cy="243759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350"/>
              </a:spcAft>
              <a:defRPr sz="950" b="0">
                <a:solidFill>
                  <a:srgbClr val="0A0A0A"/>
                </a:solidFill>
                <a:latin typeface="Aptos"/>
              </a:defRPr>
            </a:pP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Donors(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donor_id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first_name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last_name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gender,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date_of_birth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phone, email UNIQUE)</a:t>
            </a:r>
          </a:p>
          <a:p>
            <a:pPr>
              <a:spcAft>
                <a:spcPts val="350"/>
              </a:spcAft>
              <a:defRPr sz="950" b="0">
                <a:solidFill>
                  <a:srgbClr val="0A0A0A"/>
                </a:solidFill>
                <a:latin typeface="Aptos"/>
              </a:defRPr>
            </a:pP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Consent(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consent_id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donor_id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FK,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consent_date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consent_type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status)</a:t>
            </a:r>
          </a:p>
          <a:p>
            <a:pPr>
              <a:spcAft>
                <a:spcPts val="350"/>
              </a:spcAft>
              <a:defRPr sz="950" b="0">
                <a:solidFill>
                  <a:srgbClr val="0A0A0A"/>
                </a:solidFill>
                <a:latin typeface="Aptos"/>
              </a:defRPr>
            </a:pP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Sample</a:t>
            </a:r>
            <a:r>
              <a:rPr lang="ar-EG"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Types(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sample_type_id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type_name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UNIQUE, description)</a:t>
            </a:r>
          </a:p>
          <a:p>
            <a:pPr>
              <a:spcAft>
                <a:spcPts val="350"/>
              </a:spcAft>
              <a:defRPr sz="950" b="0">
                <a:solidFill>
                  <a:srgbClr val="0A0A0A"/>
                </a:solidFill>
                <a:latin typeface="Aptos"/>
              </a:defRPr>
            </a:pP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Storage</a:t>
            </a:r>
            <a:r>
              <a:rPr lang="ar-EG"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Locations(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storage_location_id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location_name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freezer_number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temperature)</a:t>
            </a:r>
          </a:p>
          <a:p>
            <a:pPr>
              <a:spcAft>
                <a:spcPts val="350"/>
              </a:spcAft>
              <a:defRPr sz="950" b="0">
                <a:solidFill>
                  <a:srgbClr val="0A0A0A"/>
                </a:solidFill>
                <a:latin typeface="Aptos"/>
              </a:defRPr>
            </a:pP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Collection</a:t>
            </a:r>
            <a:r>
              <a:rPr lang="ar-EG"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Events(collection</a:t>
            </a:r>
            <a:r>
              <a:rPr lang="ar-EG"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event_id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donor_id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FK,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collection_date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collection_method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collector_name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)</a:t>
            </a:r>
          </a:p>
          <a:p>
            <a:pPr>
              <a:spcAft>
                <a:spcPts val="350"/>
              </a:spcAft>
              <a:defRPr sz="950" b="0">
                <a:solidFill>
                  <a:srgbClr val="0A0A0A"/>
                </a:solidFill>
                <a:latin typeface="Aptos"/>
              </a:defRPr>
            </a:pP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Samples(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sample_id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collection_event_id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FK,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sample_type_id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FK,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storage_location_id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FK,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sample_code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UNIQUE,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collection_date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status)</a:t>
            </a:r>
          </a:p>
          <a:p>
            <a:pPr>
              <a:spcAft>
                <a:spcPts val="350"/>
              </a:spcAft>
              <a:defRPr sz="950" b="0">
                <a:solidFill>
                  <a:srgbClr val="0A0A0A"/>
                </a:solidFill>
                <a:latin typeface="Aptos"/>
              </a:defRPr>
            </a:pP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Researchers(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researcher_id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first_name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last_name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email UNIQUE, department)</a:t>
            </a:r>
          </a:p>
          <a:p>
            <a:pPr>
              <a:spcAft>
                <a:spcPts val="350"/>
              </a:spcAft>
              <a:defRPr sz="950" b="0">
                <a:solidFill>
                  <a:srgbClr val="0A0A0A"/>
                </a:solidFill>
                <a:latin typeface="Aptos"/>
              </a:defRPr>
            </a:pP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Test</a:t>
            </a:r>
            <a:r>
              <a:rPr lang="ar-EG"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Requests(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test_request_id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researcher_id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FK,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request_date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test_type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status)</a:t>
            </a:r>
          </a:p>
          <a:p>
            <a:pPr>
              <a:spcAft>
                <a:spcPts val="350"/>
              </a:spcAft>
              <a:defRPr sz="950" b="0">
                <a:solidFill>
                  <a:srgbClr val="0A0A0A"/>
                </a:solidFill>
                <a:latin typeface="Aptos"/>
              </a:defRPr>
            </a:pP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Test</a:t>
            </a:r>
            <a:r>
              <a:rPr lang="ar-EG"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Request</a:t>
            </a:r>
            <a:r>
              <a:rPr lang="ar-EG"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Samples(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test_request_id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PK/FK,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sample_id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PK/FK,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test_result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result_date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)</a:t>
            </a:r>
          </a:p>
          <a:p>
            <a:pPr>
              <a:spcAft>
                <a:spcPts val="350"/>
              </a:spcAft>
              <a:defRPr sz="950" b="0">
                <a:solidFill>
                  <a:srgbClr val="0A0A0A"/>
                </a:solidFill>
                <a:latin typeface="Aptos"/>
              </a:defRPr>
            </a:pP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Sample</a:t>
            </a:r>
            <a:r>
              <a:rPr lang="ar-EG"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Usage(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usage_id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sample_id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FK,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researcher_id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FK,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usage_date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sz="105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quantity_used</a:t>
            </a:r>
            <a:r>
              <a:rPr sz="105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purpose)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1307592"/>
            <a:ext cx="4233672" cy="50749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26679" y="1572768"/>
            <a:ext cx="2194560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Aptos"/>
              </a:rPr>
              <a:t>WHY 3NF?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99248" y="2029968"/>
            <a:ext cx="3730752" cy="11155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Rectangle 13"/>
          <p:cNvSpPr/>
          <p:nvPr/>
        </p:nvSpPr>
        <p:spPr>
          <a:xfrm>
            <a:off x="7699248" y="2029968"/>
            <a:ext cx="64008" cy="1115568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882127" y="2212848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82127" y="2217420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194560"/>
            <a:ext cx="2258311" cy="332399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b="1" i="0" dirty="0">
                <a:solidFill>
                  <a:srgbClr val="0A0A0A"/>
                </a:solidFill>
                <a:latin typeface="Aptos"/>
              </a:rPr>
              <a:t>1NF — Atomic values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2601753"/>
            <a:ext cx="2254412" cy="39395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Each field stores one value and </a:t>
            </a:r>
            <a:endParaRPr lang="ar-EG" sz="11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there are no repeating groups.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99248" y="3273552"/>
            <a:ext cx="3730752" cy="11155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699248" y="3273552"/>
            <a:ext cx="64008" cy="1115568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882127" y="3456432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82127" y="3461004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438144"/>
            <a:ext cx="2239459" cy="301621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6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2NF — Full dependency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831336"/>
            <a:ext cx="5549577" cy="56323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Non-key attributes depend on the complete primary key; </a:t>
            </a:r>
            <a:endParaRPr lang="ar-EG" sz="11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this is important for the composite key in </a:t>
            </a:r>
            <a:endParaRPr lang="ar-EG" sz="11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Test</a:t>
            </a:r>
            <a:r>
              <a:rPr lang="ar-EG"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Request</a:t>
            </a:r>
            <a:r>
              <a:rPr lang="ar-EG"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Samples</a:t>
            </a:r>
            <a:r>
              <a:rPr sz="940" b="0" i="0" dirty="0">
                <a:solidFill>
                  <a:srgbClr val="5F5F5F"/>
                </a:solidFill>
                <a:latin typeface="Aptos"/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99248" y="4517136"/>
            <a:ext cx="3730752" cy="11155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699248" y="4517136"/>
            <a:ext cx="64008" cy="1115568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882127" y="4700016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82127" y="4704588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681728"/>
            <a:ext cx="3444661" cy="332399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b="1" i="0" dirty="0">
                <a:solidFill>
                  <a:srgbClr val="0A0A0A"/>
                </a:solidFill>
                <a:latin typeface="Aptos"/>
              </a:rPr>
              <a:t>3NF — No transitive dependency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3257" y="5114820"/>
            <a:ext cx="3986784" cy="39395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Related information is separated into appropriate tables so</a:t>
            </a:r>
            <a:endParaRPr lang="ar-EG" sz="11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non-key attributes do not depend on other non-key attributes.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502920" cy="32918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C6972A"/>
                </a:solidFill>
                <a:latin typeface="Aptos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56032"/>
            <a:ext cx="9966960" cy="3931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2200" b="1" i="0">
                <a:solidFill>
                  <a:srgbClr val="0A0A0A"/>
                </a:solidFill>
                <a:latin typeface="Aptos Display"/>
              </a:rPr>
              <a:t>MYSQL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76656"/>
            <a:ext cx="10241280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050" b="0" i="0">
                <a:solidFill>
                  <a:srgbClr val="5F5F5F"/>
                </a:solidFill>
                <a:latin typeface="Aptos"/>
              </a:rPr>
              <a:t>Database creation, table creation and organized SQL scripts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024128"/>
            <a:ext cx="11338560" cy="0"/>
          </a:xfrm>
          <a:prstGeom prst="line">
            <a:avLst/>
          </a:prstGeom>
          <a:ln w="12700">
            <a:solidFill>
              <a:srgbClr val="C69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7772400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750" b="0" i="0">
                <a:solidFill>
                  <a:srgbClr val="969696"/>
                </a:solidFill>
                <a:latin typeface="Aptos"/>
              </a:rPr>
              <a:t>BIOBANK &amp; BIOSPECIMEN MANAGEMENT SYSTEM  •  MySQL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64808"/>
            <a:ext cx="502920" cy="22860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r"/>
            <a:r>
              <a:rPr sz="900" b="1" i="0">
                <a:solidFill>
                  <a:srgbClr val="C6972A"/>
                </a:solidFill>
                <a:latin typeface="Aptos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07592"/>
            <a:ext cx="5486400" cy="4983480"/>
          </a:xfrm>
          <a:prstGeom prst="roundRect">
            <a:avLst/>
          </a:prstGeom>
          <a:solidFill>
            <a:srgbClr val="0A0A0A"/>
          </a:solidFill>
          <a:ln w="1016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2286000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C6972A"/>
                </a:solidFill>
                <a:latin typeface="Aptos"/>
              </a:rPr>
              <a:t>DATABASE CREATION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4846320" cy="297180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050" b="0" i="0">
                <a:solidFill>
                  <a:srgbClr val="EBEBEB"/>
                </a:solidFill>
                <a:latin typeface="Consolas"/>
              </a:rPr>
              <a:t>CREATE DATABASE IF NOT EXISTS BiobankDB;
USE BiobankDB;
CREATE TABLE Donors (
    donor_id INT AUTO_INCREMENT PRIMARY KEY,
    first_name VARCHAR(50) NOT NULL,
    last_name VARCHAR(50) NOT NULL,
    gender VARCHAR(10),
    date_of_birth DATE,
    phone VARCHAR(20),
    email VARCHAR(100) UNIQUE
);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321808"/>
            <a:ext cx="4800600" cy="576072"/>
          </a:xfrm>
          <a:prstGeom prst="roundRect">
            <a:avLst/>
          </a:prstGeom>
          <a:solidFill>
            <a:srgbClr val="232323"/>
          </a:solidFill>
          <a:ln w="8890"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2688" y="5477256"/>
            <a:ext cx="4480560" cy="22860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950" b="1" i="0">
                <a:solidFill>
                  <a:srgbClr val="E1B753"/>
                </a:solidFill>
                <a:latin typeface="Aptos"/>
              </a:rPr>
              <a:t>Primary keys + foreign keys + NOT NULL + UNIQUE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1307592"/>
            <a:ext cx="5449824" cy="49834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0528" y="1572768"/>
            <a:ext cx="3291840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Aptos"/>
              </a:rPr>
              <a:t>PROJECT EXECUTION ORDER</a:t>
            </a:r>
          </a:p>
        </p:txBody>
      </p:sp>
      <p:sp>
        <p:nvSpPr>
          <p:cNvPr id="15" name="Oval 14"/>
          <p:cNvSpPr/>
          <p:nvPr/>
        </p:nvSpPr>
        <p:spPr>
          <a:xfrm>
            <a:off x="6510528" y="2057400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0528" y="2075688"/>
            <a:ext cx="347472" cy="256032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C6972A"/>
                </a:solidFill>
                <a:latin typeface="Apto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048256"/>
            <a:ext cx="2331720" cy="27432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080" b="1" i="0">
                <a:solidFill>
                  <a:srgbClr val="0A0A0A"/>
                </a:solidFill>
                <a:latin typeface="Aptos"/>
              </a:rPr>
              <a:t>create_tables.sql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0166" y="2079611"/>
            <a:ext cx="2932791" cy="224677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Creates the database tables and constraints</a:t>
            </a:r>
            <a:r>
              <a:rPr sz="850" b="1" i="0" dirty="0">
                <a:solidFill>
                  <a:srgbClr val="5F5F5F"/>
                </a:solidFill>
                <a:latin typeface="Aptos"/>
              </a:rPr>
              <a:t>.</a:t>
            </a:r>
          </a:p>
        </p:txBody>
      </p:sp>
      <p:sp>
        <p:nvSpPr>
          <p:cNvPr id="19" name="Oval 18"/>
          <p:cNvSpPr/>
          <p:nvPr/>
        </p:nvSpPr>
        <p:spPr>
          <a:xfrm>
            <a:off x="6510528" y="2862072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10528" y="2880360"/>
            <a:ext cx="347472" cy="256032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C6972A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2852928"/>
            <a:ext cx="2331720" cy="27432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080" b="1" i="0">
                <a:solidFill>
                  <a:srgbClr val="0A0A0A"/>
                </a:solidFill>
                <a:latin typeface="Aptos"/>
              </a:rPr>
              <a:t>load_data.sql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5503" y="2868605"/>
            <a:ext cx="3224537" cy="224677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Inserts the test data into the implemented tables.</a:t>
            </a:r>
          </a:p>
        </p:txBody>
      </p:sp>
      <p:sp>
        <p:nvSpPr>
          <p:cNvPr id="23" name="Oval 22"/>
          <p:cNvSpPr/>
          <p:nvPr/>
        </p:nvSpPr>
        <p:spPr>
          <a:xfrm>
            <a:off x="6510528" y="3666744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10528" y="3685031"/>
            <a:ext cx="347472" cy="256032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C6972A"/>
                </a:solidFill>
                <a:latin typeface="Apto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3657600"/>
            <a:ext cx="2331720" cy="27432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080" b="1" i="0">
                <a:solidFill>
                  <a:srgbClr val="0A0A0A"/>
                </a:solidFill>
                <a:latin typeface="Aptos"/>
              </a:rPr>
              <a:t>views.sql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460" y="3681773"/>
            <a:ext cx="2711576" cy="224677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Creates the two required database views.</a:t>
            </a:r>
          </a:p>
        </p:txBody>
      </p:sp>
      <p:sp>
        <p:nvSpPr>
          <p:cNvPr id="27" name="Oval 26"/>
          <p:cNvSpPr/>
          <p:nvPr/>
        </p:nvSpPr>
        <p:spPr>
          <a:xfrm>
            <a:off x="6510528" y="4471416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10528" y="4489703"/>
            <a:ext cx="347472" cy="256032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C6972A"/>
                </a:solidFill>
                <a:latin typeface="Apto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820" y="4520411"/>
            <a:ext cx="1559017" cy="221599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lang="en-US" sz="1080" b="1" i="0" dirty="0">
                <a:solidFill>
                  <a:srgbClr val="0A0A0A"/>
                </a:solidFill>
                <a:latin typeface="Aptos"/>
              </a:rPr>
              <a:t>T</a:t>
            </a:r>
            <a:r>
              <a:rPr sz="1080" b="1" i="0" dirty="0">
                <a:solidFill>
                  <a:srgbClr val="0A0A0A"/>
                </a:solidFill>
                <a:latin typeface="Aptos"/>
              </a:rPr>
              <a:t>riggers</a:t>
            </a:r>
            <a:r>
              <a:rPr lang="ar-EG" sz="1080" b="1" i="0" dirty="0">
                <a:solidFill>
                  <a:srgbClr val="0A0A0A"/>
                </a:solidFill>
                <a:latin typeface="Aptos"/>
              </a:rPr>
              <a:t> </a:t>
            </a:r>
            <a:r>
              <a:rPr sz="1080" b="1" i="0" dirty="0" err="1">
                <a:solidFill>
                  <a:srgbClr val="0A0A0A"/>
                </a:solidFill>
                <a:latin typeface="Aptos"/>
              </a:rPr>
              <a:t>procedures.sql</a:t>
            </a:r>
            <a:endParaRPr sz="1080" b="1" i="0" dirty="0">
              <a:solidFill>
                <a:srgbClr val="0A0A0A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682328" y="4517136"/>
            <a:ext cx="3163623" cy="224677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Implements the sample-usage validation trigger.</a:t>
            </a:r>
          </a:p>
        </p:txBody>
      </p:sp>
      <p:sp>
        <p:nvSpPr>
          <p:cNvPr id="31" name="Oval 30"/>
          <p:cNvSpPr/>
          <p:nvPr/>
        </p:nvSpPr>
        <p:spPr>
          <a:xfrm>
            <a:off x="6510528" y="5276088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10528" y="5294375"/>
            <a:ext cx="347472" cy="256032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C6972A"/>
                </a:solidFill>
                <a:latin typeface="Apto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5266944"/>
            <a:ext cx="2331720" cy="27432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080" b="1" i="0">
                <a:solidFill>
                  <a:srgbClr val="0A0A0A"/>
                </a:solidFill>
                <a:latin typeface="Aptos"/>
              </a:rPr>
              <a:t>queries.sql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25" y="5225450"/>
            <a:ext cx="4423583" cy="39395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Runs retrieval, joins, aggregation, subqueries and</a:t>
            </a:r>
            <a:endParaRPr lang="ar-EG" sz="11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data modification.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502920" cy="32918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C6972A"/>
                </a:solidFill>
                <a:latin typeface="Aptos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56032"/>
            <a:ext cx="9966960" cy="3931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2200" b="1" i="0">
                <a:solidFill>
                  <a:srgbClr val="0A0A0A"/>
                </a:solidFill>
                <a:latin typeface="Aptos Display"/>
              </a:rPr>
              <a:t>SAMPLE DATA &amp; SUCCESSFUL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76656"/>
            <a:ext cx="10241280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050" b="0" i="0">
                <a:solidFill>
                  <a:srgbClr val="5F5F5F"/>
                </a:solidFill>
                <a:latin typeface="Aptos"/>
              </a:rPr>
              <a:t>Evidence that the database contains meaningful test records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024128"/>
            <a:ext cx="11338560" cy="0"/>
          </a:xfrm>
          <a:prstGeom prst="line">
            <a:avLst/>
          </a:prstGeom>
          <a:ln w="12700">
            <a:solidFill>
              <a:srgbClr val="C69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7772400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750" b="0" i="0">
                <a:solidFill>
                  <a:srgbClr val="969696"/>
                </a:solidFill>
                <a:latin typeface="Aptos"/>
              </a:rPr>
              <a:t>BIOBANK &amp; BIOSPECIMEN MANAGEMENT SYSTEM  •  MySQL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64808"/>
            <a:ext cx="502920" cy="22860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r"/>
            <a:r>
              <a:rPr sz="900" b="1" i="0">
                <a:solidFill>
                  <a:srgbClr val="C6972A"/>
                </a:solidFill>
                <a:latin typeface="Aptos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6537960" cy="4434840"/>
          </a:xfrm>
          <a:prstGeom prst="roundRect">
            <a:avLst/>
          </a:prstGeom>
          <a:solidFill>
            <a:srgbClr val="FAF9F5"/>
          </a:solidFill>
          <a:ln w="17780">
            <a:solidFill>
              <a:srgbClr val="C6972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8952" y="5257800"/>
            <a:ext cx="6025896" cy="310896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850" b="0" i="1">
                <a:solidFill>
                  <a:srgbClr val="969696"/>
                </a:solidFill>
                <a:latin typeface="Aptos"/>
              </a:rPr>
              <a:t>Recommended: show the 10 donor records clearly in the result grid.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96912" y="1325880"/>
            <a:ext cx="4389120" cy="4434840"/>
          </a:xfrm>
          <a:prstGeom prst="roundRect">
            <a:avLst/>
          </a:prstGeom>
          <a:solidFill>
            <a:srgbClr val="F8F6F0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7571231" y="1600200"/>
            <a:ext cx="2377440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Aptos"/>
              </a:rPr>
              <a:t>DONORS 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1231" y="2057400"/>
            <a:ext cx="1760290" cy="240066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The Donors table stores: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2423160"/>
            <a:ext cx="3611880" cy="136268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600"/>
              </a:spcAft>
              <a:defRPr sz="1019" b="0">
                <a:solidFill>
                  <a:srgbClr val="0A0A0A"/>
                </a:solidFill>
                <a:latin typeface="Aptos"/>
              </a:defRPr>
            </a:pP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donor_id</a:t>
            </a: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— unique identifier</a:t>
            </a:r>
          </a:p>
          <a:p>
            <a:pPr>
              <a:spcAft>
                <a:spcPts val="600"/>
              </a:spcAft>
              <a:defRPr sz="1019" b="0">
                <a:solidFill>
                  <a:srgbClr val="0A0A0A"/>
                </a:solidFill>
                <a:latin typeface="Aptos"/>
              </a:defRPr>
            </a:pP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first_name</a:t>
            </a: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/ 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last_name</a:t>
            </a: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— donor name</a:t>
            </a:r>
          </a:p>
          <a:p>
            <a:pPr>
              <a:spcAft>
                <a:spcPts val="600"/>
              </a:spcAft>
              <a:defRPr sz="1019" b="0">
                <a:solidFill>
                  <a:srgbClr val="0A0A0A"/>
                </a:solidFill>
                <a:latin typeface="Aptos"/>
              </a:defRPr>
            </a:pP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gender — donor gender</a:t>
            </a:r>
          </a:p>
          <a:p>
            <a:pPr>
              <a:spcAft>
                <a:spcPts val="600"/>
              </a:spcAft>
              <a:defRPr sz="1019" b="0">
                <a:solidFill>
                  <a:srgbClr val="0A0A0A"/>
                </a:solidFill>
                <a:latin typeface="Aptos"/>
              </a:defRPr>
            </a:pP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</a:t>
            </a:r>
            <a:r>
              <a:rPr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date_of_birth</a:t>
            </a: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— birth date</a:t>
            </a:r>
          </a:p>
          <a:p>
            <a:pPr>
              <a:spcAft>
                <a:spcPts val="600"/>
              </a:spcAft>
              <a:defRPr sz="1019" b="0">
                <a:solidFill>
                  <a:srgbClr val="0A0A0A"/>
                </a:solidFill>
                <a:latin typeface="Aptos"/>
              </a:defRPr>
            </a:pP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phone — contact number</a:t>
            </a:r>
          </a:p>
          <a:p>
            <a:pPr>
              <a:spcAft>
                <a:spcPts val="600"/>
              </a:spcAft>
              <a:defRPr sz="1019" b="0">
                <a:solidFill>
                  <a:srgbClr val="0A0A0A"/>
                </a:solidFill>
                <a:latin typeface="Aptos"/>
              </a:defRPr>
            </a:pPr>
            <a:r>
              <a:rPr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• email — unique contact email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71231" y="4709160"/>
            <a:ext cx="3657600" cy="685800"/>
          </a:xfrm>
          <a:prstGeom prst="roundRect">
            <a:avLst/>
          </a:prstGeom>
          <a:solidFill>
            <a:srgbClr val="F2E7C7"/>
          </a:solidFill>
          <a:ln w="10160"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54112" y="4882896"/>
            <a:ext cx="3291840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950" b="1" i="0">
                <a:solidFill>
                  <a:srgbClr val="0A0A0A"/>
                </a:solidFill>
                <a:latin typeface="Aptos"/>
              </a:rPr>
              <a:t>10 meaningful donor records were loaded for testing.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919" b="0" i="1">
                <a:solidFill>
                  <a:srgbClr val="5F5F5F"/>
                </a:solidFill>
                <a:latin typeface="Aptos"/>
              </a:rPr>
              <a:t>Keep this slide evidence-focused: the screenshot is the proof; the text explains what the examiner should notice.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AAA9814-47A8-70BA-D036-9C77D1353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6442"/>
            <a:ext cx="6537959" cy="4417430"/>
          </a:xfrm>
          <a:prstGeom prst="round2DiagRect">
            <a:avLst>
              <a:gd name="adj1" fmla="val 16667"/>
              <a:gd name="adj2" fmla="val 4428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502920" cy="32918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C6972A"/>
                </a:solidFill>
                <a:latin typeface="Aptos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56032"/>
            <a:ext cx="9966960" cy="3931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2200" b="1" i="0">
                <a:solidFill>
                  <a:srgbClr val="0A0A0A"/>
                </a:solidFill>
                <a:latin typeface="Aptos Display"/>
              </a:rPr>
              <a:t>SQL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76656"/>
            <a:ext cx="10241280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050" b="0" i="0">
                <a:solidFill>
                  <a:srgbClr val="5F5F5F"/>
                </a:solidFill>
                <a:latin typeface="Aptos"/>
              </a:rPr>
              <a:t>Retrieval, joins, aggregation, subqueries and data modification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024128"/>
            <a:ext cx="11338560" cy="0"/>
          </a:xfrm>
          <a:prstGeom prst="line">
            <a:avLst/>
          </a:prstGeom>
          <a:ln w="12700">
            <a:solidFill>
              <a:srgbClr val="C69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7772400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750" b="0" i="0">
                <a:solidFill>
                  <a:srgbClr val="969696"/>
                </a:solidFill>
                <a:latin typeface="Aptos"/>
              </a:rPr>
              <a:t>BIOBANK &amp; BIOSPECIMEN MANAGEMENT SYSTEM  •  MySQL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64808"/>
            <a:ext cx="502920" cy="22860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r"/>
            <a:r>
              <a:rPr sz="900" b="1" i="0">
                <a:solidFill>
                  <a:srgbClr val="C6972A"/>
                </a:solidFill>
                <a:latin typeface="Aptos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5715000" cy="4983480"/>
          </a:xfrm>
          <a:prstGeom prst="roundRect">
            <a:avLst/>
          </a:prstGeom>
          <a:solidFill>
            <a:srgbClr val="0A0A0A"/>
          </a:solidFill>
          <a:ln w="1016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1572768"/>
            <a:ext cx="5029200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250" b="1" i="0">
                <a:solidFill>
                  <a:srgbClr val="C6972A"/>
                </a:solidFill>
                <a:latin typeface="Aptos"/>
              </a:rPr>
              <a:t>SELECT + JOIN + AGGREGATION + SUBQUERY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029968"/>
            <a:ext cx="5074920" cy="3977639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10" b="0" i="0">
                <a:solidFill>
                  <a:srgbClr val="EEEEEE"/>
                </a:solidFill>
                <a:latin typeface="Consolas"/>
              </a:rPr>
              <a:t>-- Filtering
SELECT *
FROM Donors
WHERE gender = 'Female';
-- Join
SELECT d.first_name, d.last_name,
       ce.collection_date
FROM Donors d
JOIN CollectionEvents ce
  ON d.donor_id = ce.donor_id;
-- Aggregation
SELECT st.type_name,
       COUNT(s.sample_id) AS number_of_samples
FROM SampleTypes st
LEFT JOIN Samples s
  ON st.sample_type_id = s.sample_type_id
GROUP BY st.type_name;
-- Subquery
SELECT first_name, last_name
FROM Donors
WHERE donor_id IN (
  SELECT donor_id
  FROM CollectionEvents
);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10528" y="1325880"/>
            <a:ext cx="5175504" cy="3063240"/>
          </a:xfrm>
          <a:prstGeom prst="roundRect">
            <a:avLst/>
          </a:prstGeom>
          <a:solidFill>
            <a:srgbClr val="FAF9F5"/>
          </a:solidFill>
          <a:ln w="17780">
            <a:solidFill>
              <a:srgbClr val="C6972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3886200"/>
            <a:ext cx="4663440" cy="310896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850" b="0" i="1">
                <a:solidFill>
                  <a:srgbClr val="969696"/>
                </a:solidFill>
                <a:latin typeface="Aptos"/>
              </a:rPr>
              <a:t>Choose a result that clearly demonstrates a JOIN or aggregation.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0528" y="4590288"/>
            <a:ext cx="5175504" cy="17190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10528" y="4590288"/>
            <a:ext cx="64008" cy="1719072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693408" y="4773168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93408" y="4777740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754879"/>
            <a:ext cx="3607783" cy="332399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Data modification was also tested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9879" y="5254619"/>
            <a:ext cx="5232121" cy="7325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INSERT, UPDATE and DELETE statements</a:t>
            </a:r>
            <a:endParaRPr lang="ar-EG" sz="11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were executed to demonstrate that records</a:t>
            </a:r>
            <a:endParaRPr lang="ar-EG" sz="11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can be added, changed and</a:t>
            </a:r>
            <a:endParaRPr lang="ar-EG" sz="11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removed while respecting the database constraints.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DD2A7CF-8507-E604-8F2D-A476E93F4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911" y="1243583"/>
            <a:ext cx="5232121" cy="3145537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502920" cy="32918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C6972A"/>
                </a:solidFill>
                <a:latin typeface="Aptos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56032"/>
            <a:ext cx="9966960" cy="3931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2200" b="1" i="0">
                <a:solidFill>
                  <a:srgbClr val="0A0A0A"/>
                </a:solidFill>
                <a:latin typeface="Aptos Display"/>
              </a:rPr>
              <a:t>VIEWS, TRIGGER &amp; BUSINESS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76656"/>
            <a:ext cx="10241280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050" b="0" i="0">
                <a:solidFill>
                  <a:srgbClr val="5F5F5F"/>
                </a:solidFill>
                <a:latin typeface="Aptos"/>
              </a:rPr>
              <a:t>Advanced database objects used to simplify reporting and protect data integrity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024128"/>
            <a:ext cx="11338560" cy="0"/>
          </a:xfrm>
          <a:prstGeom prst="line">
            <a:avLst/>
          </a:prstGeom>
          <a:ln w="12700">
            <a:solidFill>
              <a:srgbClr val="C69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7772400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750" b="0" i="0">
                <a:solidFill>
                  <a:srgbClr val="969696"/>
                </a:solidFill>
                <a:latin typeface="Aptos"/>
              </a:rPr>
              <a:t>BIOBANK &amp; BIOSPECIMEN MANAGEMENT SYSTEM  •  MySQL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64808"/>
            <a:ext cx="502920" cy="22860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r"/>
            <a:r>
              <a:rPr sz="900" b="1" i="0">
                <a:solidFill>
                  <a:srgbClr val="C6972A"/>
                </a:solidFill>
                <a:latin typeface="Apto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3694176" cy="45262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64008" cy="4526280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85800" y="1508760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513332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1881" y="1532556"/>
            <a:ext cx="3125215" cy="332399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View 1 — Donor</a:t>
            </a:r>
            <a:r>
              <a:rPr lang="ar-EG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Sample</a:t>
            </a:r>
            <a:r>
              <a:rPr lang="ar-EG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0917" y="2055372"/>
            <a:ext cx="3358163" cy="978729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Combines donor, sample, sample type and</a:t>
            </a:r>
            <a:endParaRPr lang="ar-EG" sz="12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storage information. </a:t>
            </a:r>
            <a:endParaRPr lang="ar-EG" sz="12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It returns the donor name, sample code, </a:t>
            </a:r>
            <a:endParaRPr lang="ar-EG" sz="12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sample type, storage location, temperature and</a:t>
            </a:r>
            <a:endParaRPr lang="ar-EG" sz="12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sample status.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325880"/>
            <a:ext cx="3694176" cy="45262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15968" y="1325880"/>
            <a:ext cx="64008" cy="4526280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498848" y="1508760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98848" y="1513332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105" y="1507152"/>
            <a:ext cx="3091039" cy="332399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b="1" i="0" dirty="0">
                <a:solidFill>
                  <a:srgbClr val="0A0A0A"/>
                </a:solidFill>
                <a:latin typeface="Aptos"/>
              </a:rPr>
              <a:t>View 2 — Research</a:t>
            </a:r>
            <a:r>
              <a:rPr lang="ar-EG" b="1" i="0" dirty="0">
                <a:solidFill>
                  <a:srgbClr val="0A0A0A"/>
                </a:solidFill>
                <a:latin typeface="Aptos"/>
              </a:rPr>
              <a:t> </a:t>
            </a:r>
            <a:r>
              <a:rPr b="1" i="0" dirty="0">
                <a:solidFill>
                  <a:srgbClr val="0A0A0A"/>
                </a:solidFill>
                <a:latin typeface="Aptos"/>
              </a:rPr>
              <a:t>Test</a:t>
            </a:r>
            <a:r>
              <a:rPr lang="ar-EG" b="1" i="0" dirty="0">
                <a:solidFill>
                  <a:srgbClr val="0A0A0A"/>
                </a:solidFill>
                <a:latin typeface="Aptos"/>
              </a:rPr>
              <a:t> </a:t>
            </a:r>
            <a:r>
              <a:rPr b="1" i="0" dirty="0">
                <a:solidFill>
                  <a:srgbClr val="0A0A0A"/>
                </a:solidFill>
                <a:latin typeface="Aptos"/>
              </a:rPr>
              <a:t>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2222" y="1961389"/>
            <a:ext cx="3655809" cy="60939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Combines researcher and test-request information.</a:t>
            </a:r>
            <a:endParaRPr lang="ar-EG" sz="12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It returns the researcher name, department, </a:t>
            </a:r>
            <a:endParaRPr lang="ar-EG" sz="12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request date, test type and request status.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1325880"/>
            <a:ext cx="3566160" cy="45262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29016" y="1325880"/>
            <a:ext cx="64008" cy="4526280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311896" y="1508760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11896" y="1513332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TR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50808" y="1490472"/>
            <a:ext cx="2558521" cy="332399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b="1" i="0" dirty="0">
                <a:solidFill>
                  <a:srgbClr val="0A0A0A"/>
                </a:solidFill>
                <a:latin typeface="Aptos"/>
              </a:rPr>
              <a:t>Trigger — Sample Usage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2124" y="1961389"/>
            <a:ext cx="3138360" cy="79406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Before inserting into Sample</a:t>
            </a:r>
            <a:r>
              <a:rPr lang="ar-EG"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</a:t>
            </a:r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Usage, </a:t>
            </a:r>
            <a:endParaRPr lang="ar-EG" sz="12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the trigger checks </a:t>
            </a:r>
            <a:r>
              <a:rPr sz="1200" b="1" i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quantity_used</a:t>
            </a:r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.</a:t>
            </a:r>
            <a:endParaRPr lang="ar-EG" sz="12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If the value is less than or equal to zero,</a:t>
            </a:r>
            <a:endParaRPr lang="ar-EG" sz="12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the insert is rejected with an error message.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6035039"/>
            <a:ext cx="10515600" cy="347472"/>
          </a:xfrm>
          <a:prstGeom prst="roundRect">
            <a:avLst/>
          </a:prstGeom>
          <a:solidFill>
            <a:srgbClr val="F2E7C7"/>
          </a:solidFill>
          <a:ln w="8890"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12520" y="6117335"/>
            <a:ext cx="9966960" cy="18288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919" b="1" i="0" dirty="0">
                <a:solidFill>
                  <a:srgbClr val="0A0A0A"/>
                </a:solidFill>
                <a:latin typeface="Aptos"/>
              </a:rPr>
              <a:t>Business rule enforced: </a:t>
            </a:r>
            <a:r>
              <a:rPr sz="919" b="1" i="0" dirty="0" err="1">
                <a:solidFill>
                  <a:srgbClr val="0A0A0A"/>
                </a:solidFill>
                <a:latin typeface="Aptos"/>
              </a:rPr>
              <a:t>quantity_used</a:t>
            </a:r>
            <a:r>
              <a:rPr sz="919" b="1" i="0" dirty="0">
                <a:solidFill>
                  <a:srgbClr val="0A0A0A"/>
                </a:solidFill>
                <a:latin typeface="Aptos"/>
              </a:rPr>
              <a:t> must be greater than zero.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502920" cy="32918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C6972A"/>
                </a:solidFill>
                <a:latin typeface="Aptos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56032"/>
            <a:ext cx="9966960" cy="3931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2200" b="1" i="0">
                <a:solidFill>
                  <a:srgbClr val="0A0A0A"/>
                </a:solidFill>
                <a:latin typeface="Aptos Display"/>
              </a:rPr>
              <a:t>TESTING &amp;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76656"/>
            <a:ext cx="10241280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050" b="0" i="0">
                <a:solidFill>
                  <a:srgbClr val="5F5F5F"/>
                </a:solidFill>
                <a:latin typeface="Aptos"/>
              </a:rPr>
              <a:t>Evidence that constraints, views, joins and business rules behave correctly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024128"/>
            <a:ext cx="11338560" cy="0"/>
          </a:xfrm>
          <a:prstGeom prst="line">
            <a:avLst/>
          </a:prstGeom>
          <a:ln w="12700">
            <a:solidFill>
              <a:srgbClr val="C69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7772400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750" b="0" i="0">
                <a:solidFill>
                  <a:srgbClr val="969696"/>
                </a:solidFill>
                <a:latin typeface="Aptos"/>
              </a:rPr>
              <a:t>BIOBANK &amp; BIOSPECIMEN MANAGEMENT SYSTEM  •  MySQL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64808"/>
            <a:ext cx="502920" cy="22860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r"/>
            <a:r>
              <a:rPr sz="900" b="1" i="0">
                <a:solidFill>
                  <a:srgbClr val="C6972A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6903720" cy="4892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2011680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250" b="1" i="0">
                <a:solidFill>
                  <a:srgbClr val="0A0A0A"/>
                </a:solidFill>
                <a:latin typeface="Aptos"/>
              </a:rPr>
              <a:t>TEST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1572768"/>
            <a:ext cx="2286000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250" b="1" i="0">
                <a:solidFill>
                  <a:srgbClr val="0A0A0A"/>
                </a:solidFill>
                <a:latin typeface="Aptos"/>
              </a:rPr>
              <a:t>EXPECTED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572768"/>
            <a:ext cx="822960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1250" b="1" i="0">
                <a:solidFill>
                  <a:srgbClr val="0A0A0A"/>
                </a:solidFill>
                <a:latin typeface="Aptos"/>
              </a:rPr>
              <a:t>STATUS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9808" y="1920240"/>
            <a:ext cx="6382512" cy="0"/>
          </a:xfrm>
          <a:prstGeom prst="line">
            <a:avLst/>
          </a:prstGeom>
          <a:ln w="7620">
            <a:solidFill>
              <a:srgbClr val="E6E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2011680"/>
            <a:ext cx="2057400" cy="34747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60" b="1" i="0">
                <a:solidFill>
                  <a:srgbClr val="0A0A0A"/>
                </a:solidFill>
                <a:latin typeface="Aptos"/>
              </a:rPr>
              <a:t>Valid data insertion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011680"/>
            <a:ext cx="2880360" cy="36576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19" b="0" i="0">
                <a:solidFill>
                  <a:srgbClr val="5F5F5F"/>
                </a:solidFill>
                <a:latin typeface="Aptos"/>
              </a:rPr>
              <a:t>Record is inserted successfully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993392"/>
            <a:ext cx="749808" cy="292608"/>
          </a:xfrm>
          <a:prstGeom prst="roundRect">
            <a:avLst/>
          </a:prstGeom>
          <a:solidFill>
            <a:srgbClr val="E6F1EA"/>
          </a:solidFill>
          <a:ln w="8890">
            <a:solidFill>
              <a:srgbClr val="337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90488" y="2029968"/>
            <a:ext cx="713232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740" b="1" i="0">
                <a:solidFill>
                  <a:srgbClr val="337854"/>
                </a:solidFill>
                <a:latin typeface="Aptos"/>
              </a:rPr>
              <a:t>PASSED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9808" y="2487168"/>
            <a:ext cx="6382512" cy="0"/>
          </a:xfrm>
          <a:prstGeom prst="line">
            <a:avLst/>
          </a:prstGeom>
          <a:ln w="7620">
            <a:solidFill>
              <a:srgbClr val="E6E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7240" y="2578608"/>
            <a:ext cx="2057400" cy="34747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60" b="1" i="0">
                <a:solidFill>
                  <a:srgbClr val="0A0A0A"/>
                </a:solidFill>
                <a:latin typeface="Aptos"/>
              </a:rPr>
              <a:t>Duplicate primary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2578608"/>
            <a:ext cx="2880360" cy="36576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19" b="0" i="0">
                <a:solidFill>
                  <a:srgbClr val="5F5F5F"/>
                </a:solidFill>
                <a:latin typeface="Aptos"/>
              </a:rPr>
              <a:t>Duplicate record is rejected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560320"/>
            <a:ext cx="749808" cy="292608"/>
          </a:xfrm>
          <a:prstGeom prst="roundRect">
            <a:avLst/>
          </a:prstGeom>
          <a:solidFill>
            <a:srgbClr val="E6F1EA"/>
          </a:solidFill>
          <a:ln w="8890">
            <a:solidFill>
              <a:srgbClr val="337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90488" y="2596896"/>
            <a:ext cx="713232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740" b="1" i="0">
                <a:solidFill>
                  <a:srgbClr val="337854"/>
                </a:solidFill>
                <a:latin typeface="Aptos"/>
              </a:rPr>
              <a:t>PASSED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9808" y="3054096"/>
            <a:ext cx="6382512" cy="0"/>
          </a:xfrm>
          <a:prstGeom prst="line">
            <a:avLst/>
          </a:prstGeom>
          <a:ln w="7620">
            <a:solidFill>
              <a:srgbClr val="E6E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7240" y="3145536"/>
            <a:ext cx="2057400" cy="34747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60" b="1" i="0">
                <a:solidFill>
                  <a:srgbClr val="0A0A0A"/>
                </a:solidFill>
                <a:latin typeface="Aptos"/>
              </a:rPr>
              <a:t>Invalid foreign key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3145536"/>
            <a:ext cx="2880360" cy="36576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19" b="0" i="0">
                <a:solidFill>
                  <a:srgbClr val="5F5F5F"/>
                </a:solidFill>
                <a:latin typeface="Aptos"/>
              </a:rPr>
              <a:t>Invalid relationship is rejected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127248"/>
            <a:ext cx="749808" cy="292608"/>
          </a:xfrm>
          <a:prstGeom prst="roundRect">
            <a:avLst/>
          </a:prstGeom>
          <a:solidFill>
            <a:srgbClr val="E6F1EA"/>
          </a:solidFill>
          <a:ln w="8890">
            <a:solidFill>
              <a:srgbClr val="337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90488" y="3163824"/>
            <a:ext cx="713232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740" b="1" i="0">
                <a:solidFill>
                  <a:srgbClr val="337854"/>
                </a:solidFill>
                <a:latin typeface="Aptos"/>
              </a:rPr>
              <a:t>PASSED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9808" y="3621024"/>
            <a:ext cx="6382512" cy="0"/>
          </a:xfrm>
          <a:prstGeom prst="line">
            <a:avLst/>
          </a:prstGeom>
          <a:ln w="7620">
            <a:solidFill>
              <a:srgbClr val="E6E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77240" y="3712464"/>
            <a:ext cx="2057400" cy="34747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60" b="1" i="0">
                <a:solidFill>
                  <a:srgbClr val="0A0A0A"/>
                </a:solidFill>
                <a:latin typeface="Aptos"/>
              </a:rPr>
              <a:t>Duplicate UNIQUE 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3712464"/>
            <a:ext cx="2880360" cy="36576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19" b="0" i="0">
                <a:solidFill>
                  <a:srgbClr val="5F5F5F"/>
                </a:solidFill>
                <a:latin typeface="Aptos"/>
              </a:rPr>
              <a:t>Duplicate email/sample code is rejected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694176"/>
            <a:ext cx="749808" cy="292608"/>
          </a:xfrm>
          <a:prstGeom prst="roundRect">
            <a:avLst/>
          </a:prstGeom>
          <a:solidFill>
            <a:srgbClr val="E6F1EA"/>
          </a:solidFill>
          <a:ln w="8890">
            <a:solidFill>
              <a:srgbClr val="337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90488" y="3730752"/>
            <a:ext cx="713232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740" b="1" i="0">
                <a:solidFill>
                  <a:srgbClr val="337854"/>
                </a:solidFill>
                <a:latin typeface="Aptos"/>
              </a:rPr>
              <a:t>PASSED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49808" y="4187952"/>
            <a:ext cx="6382512" cy="0"/>
          </a:xfrm>
          <a:prstGeom prst="line">
            <a:avLst/>
          </a:prstGeom>
          <a:ln w="7620">
            <a:solidFill>
              <a:srgbClr val="E6E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77240" y="4279392"/>
            <a:ext cx="2057400" cy="34747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60" b="1" i="0">
                <a:solidFill>
                  <a:srgbClr val="0A0A0A"/>
                </a:solidFill>
                <a:latin typeface="Aptos"/>
              </a:rPr>
              <a:t>Negative sample quantity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3240" y="4279392"/>
            <a:ext cx="2880360" cy="36576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19" b="0" i="0">
                <a:solidFill>
                  <a:srgbClr val="5F5F5F"/>
                </a:solidFill>
                <a:latin typeface="Aptos"/>
              </a:rPr>
              <a:t>Trigger rejects the record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4261104"/>
            <a:ext cx="749808" cy="292608"/>
          </a:xfrm>
          <a:prstGeom prst="roundRect">
            <a:avLst/>
          </a:prstGeom>
          <a:solidFill>
            <a:srgbClr val="E6F1EA"/>
          </a:solidFill>
          <a:ln w="8890">
            <a:solidFill>
              <a:srgbClr val="337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190488" y="4297680"/>
            <a:ext cx="713232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740" b="1" i="0">
                <a:solidFill>
                  <a:srgbClr val="337854"/>
                </a:solidFill>
                <a:latin typeface="Aptos"/>
              </a:rPr>
              <a:t>PASSED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49808" y="4754880"/>
            <a:ext cx="6382512" cy="0"/>
          </a:xfrm>
          <a:prstGeom prst="line">
            <a:avLst/>
          </a:prstGeom>
          <a:ln w="7620">
            <a:solidFill>
              <a:srgbClr val="E6E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77240" y="4846320"/>
            <a:ext cx="2057400" cy="34747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60" b="1" i="0">
                <a:solidFill>
                  <a:srgbClr val="0A0A0A"/>
                </a:solidFill>
                <a:latin typeface="Aptos"/>
              </a:rPr>
              <a:t>View execution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3240" y="4846320"/>
            <a:ext cx="2880360" cy="36576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19" b="0" i="0">
                <a:solidFill>
                  <a:srgbClr val="5F5F5F"/>
                </a:solidFill>
                <a:latin typeface="Aptos"/>
              </a:rPr>
              <a:t>Expected combined data is returned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4828032"/>
            <a:ext cx="749808" cy="292608"/>
          </a:xfrm>
          <a:prstGeom prst="roundRect">
            <a:avLst/>
          </a:prstGeom>
          <a:solidFill>
            <a:srgbClr val="E6F1EA"/>
          </a:solidFill>
          <a:ln w="8890">
            <a:solidFill>
              <a:srgbClr val="337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190488" y="4864608"/>
            <a:ext cx="713232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740" b="1" i="0">
                <a:solidFill>
                  <a:srgbClr val="337854"/>
                </a:solidFill>
                <a:latin typeface="Aptos"/>
              </a:rPr>
              <a:t>PASSED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49808" y="5321808"/>
            <a:ext cx="6382512" cy="0"/>
          </a:xfrm>
          <a:prstGeom prst="line">
            <a:avLst/>
          </a:prstGeom>
          <a:ln w="7620">
            <a:solidFill>
              <a:srgbClr val="E6E3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77240" y="5413248"/>
            <a:ext cx="2057400" cy="34747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60" b="1" i="0">
                <a:solidFill>
                  <a:srgbClr val="0A0A0A"/>
                </a:solidFill>
                <a:latin typeface="Aptos"/>
              </a:rPr>
              <a:t>JOIN query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13248"/>
            <a:ext cx="2880360" cy="36576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19" b="0" i="0">
                <a:solidFill>
                  <a:srgbClr val="5F5F5F"/>
                </a:solidFill>
                <a:latin typeface="Aptos"/>
              </a:rPr>
              <a:t>Related records are displayed correctly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72200" y="5394960"/>
            <a:ext cx="749808" cy="292608"/>
          </a:xfrm>
          <a:prstGeom prst="roundRect">
            <a:avLst/>
          </a:prstGeom>
          <a:solidFill>
            <a:srgbClr val="E6F1EA"/>
          </a:solidFill>
          <a:ln w="8890">
            <a:solidFill>
              <a:srgbClr val="337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190488" y="5431536"/>
            <a:ext cx="713232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740" b="1" i="0">
                <a:solidFill>
                  <a:srgbClr val="337854"/>
                </a:solidFill>
                <a:latin typeface="Aptos"/>
              </a:rPr>
              <a:t>PASSED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248" y="1325880"/>
            <a:ext cx="3986784" cy="2240280"/>
          </a:xfrm>
          <a:prstGeom prst="roundRect">
            <a:avLst/>
          </a:prstGeom>
          <a:solidFill>
            <a:srgbClr val="FAF9F5"/>
          </a:solidFill>
          <a:ln w="17780">
            <a:solidFill>
              <a:srgbClr val="C6972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955279" y="3063240"/>
            <a:ext cx="3474720" cy="310896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850" b="0" i="1">
                <a:solidFill>
                  <a:srgbClr val="969696"/>
                </a:solidFill>
                <a:latin typeface="Aptos"/>
              </a:rPr>
              <a:t>Show the error produced when quantity_used is invalid.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699247" y="3794760"/>
            <a:ext cx="4063677" cy="242316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699248" y="3794760"/>
            <a:ext cx="64008" cy="2423160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7882127" y="3977640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882127" y="3982212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3959352"/>
            <a:ext cx="3182112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50" b="1" i="0">
                <a:solidFill>
                  <a:srgbClr val="0A0A0A"/>
                </a:solidFill>
                <a:latin typeface="Aptos"/>
              </a:rPr>
              <a:t>What the tests prove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83769" y="4467576"/>
            <a:ext cx="4063677" cy="978729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Valid records can be inserted and retrieved.</a:t>
            </a:r>
            <a:endParaRPr lang="ar-EG" sz="12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Invalid keys and duplicate UNIQUE values are prevented. </a:t>
            </a:r>
            <a:endParaRPr lang="ar-EG" sz="12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The trigger enforces the sample-usage rule, </a:t>
            </a:r>
            <a:endParaRPr lang="ar-EG" sz="12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while views and JOIN queries return</a:t>
            </a:r>
            <a:endParaRPr lang="ar-EG" sz="12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2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the expected related information.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353942C0-C1BC-BF31-F078-81FB358DB9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62"/>
          <a:stretch>
            <a:fillRect/>
          </a:stretch>
        </p:blipFill>
        <p:spPr>
          <a:xfrm>
            <a:off x="7699248" y="1271016"/>
            <a:ext cx="3989088" cy="2322575"/>
          </a:xfrm>
          <a:prstGeom prst="round2DiagRect">
            <a:avLst>
              <a:gd name="adj1" fmla="val 16667"/>
              <a:gd name="adj2" fmla="val 19317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502920" cy="32918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C6972A"/>
                </a:solidFill>
                <a:latin typeface="Aptos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56032"/>
            <a:ext cx="9966960" cy="3931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2200" b="1" i="0">
                <a:solidFill>
                  <a:srgbClr val="0A0A0A"/>
                </a:solidFill>
                <a:latin typeface="Aptos Display"/>
              </a:rPr>
              <a:t>BONUS — CONNECTED TKINTER GUI +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76656"/>
            <a:ext cx="10241280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050" b="0" i="0">
                <a:solidFill>
                  <a:srgbClr val="5F5F5F"/>
                </a:solidFill>
                <a:latin typeface="Aptos"/>
              </a:rPr>
              <a:t>The working application and the project repository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024128"/>
            <a:ext cx="11338560" cy="0"/>
          </a:xfrm>
          <a:prstGeom prst="line">
            <a:avLst/>
          </a:prstGeom>
          <a:ln w="12700">
            <a:solidFill>
              <a:srgbClr val="C69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7772400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750" b="0" i="0">
                <a:solidFill>
                  <a:srgbClr val="969696"/>
                </a:solidFill>
                <a:latin typeface="Aptos"/>
              </a:rPr>
              <a:t>BIOBANK &amp; BIOSPECIMEN MANAGEMENT SYSTEM  •  MySQL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64808"/>
            <a:ext cx="502920" cy="22860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r"/>
            <a:r>
              <a:rPr sz="900" b="1" i="0">
                <a:solidFill>
                  <a:srgbClr val="C6972A"/>
                </a:solidFill>
                <a:latin typeface="Apto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5532120" cy="3520440"/>
          </a:xfrm>
          <a:prstGeom prst="roundRect">
            <a:avLst/>
          </a:prstGeom>
          <a:solidFill>
            <a:srgbClr val="FAF9F5"/>
          </a:solidFill>
          <a:ln w="17780">
            <a:solidFill>
              <a:srgbClr val="C6972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8952" y="4315968"/>
            <a:ext cx="5020056" cy="310896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850" b="0" i="1">
                <a:solidFill>
                  <a:srgbClr val="969696"/>
                </a:solidFill>
                <a:latin typeface="Aptos"/>
              </a:rPr>
              <a:t>Best choice: Show All donors, Search result, or Add Data result.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1298448"/>
            <a:ext cx="5394960" cy="3520440"/>
          </a:xfrm>
          <a:prstGeom prst="roundRect">
            <a:avLst/>
          </a:prstGeom>
          <a:solidFill>
            <a:srgbClr val="FAF9F5"/>
          </a:solidFill>
          <a:ln w="17780">
            <a:solidFill>
              <a:srgbClr val="C6972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104" y="4315968"/>
            <a:ext cx="4882896" cy="310896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850" b="0" i="1">
                <a:solidFill>
                  <a:srgbClr val="969696"/>
                </a:solidFill>
                <a:latin typeface="Aptos"/>
              </a:rPr>
              <a:t>Show the repository name, project files and README.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74920"/>
            <a:ext cx="5532120" cy="11704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5074920"/>
            <a:ext cx="64008" cy="1170432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85800" y="5257800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5262372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GUI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5239512"/>
            <a:ext cx="4727448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50" b="1" i="0">
                <a:solidFill>
                  <a:srgbClr val="0A0A0A"/>
                </a:solidFill>
                <a:latin typeface="Aptos"/>
              </a:rPr>
              <a:t>GUI bonus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883" y="5700105"/>
            <a:ext cx="5433475" cy="39395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Python </a:t>
            </a:r>
            <a:r>
              <a:rPr sz="1100" b="1" i="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Tkinter</a:t>
            </a:r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connects directly to MySQL and</a:t>
            </a:r>
            <a:endParaRPr lang="ar-EG" sz="11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demonstrates viewing, searching and adding donor records through a real interface.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91072" y="5074920"/>
            <a:ext cx="5394960" cy="11704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291072" y="5074920"/>
            <a:ext cx="64008" cy="1170432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473952" y="5257800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73952" y="5262372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GH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12864" y="5239512"/>
            <a:ext cx="4590288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50" b="1" i="0">
                <a:solidFill>
                  <a:srgbClr val="0A0A0A"/>
                </a:solidFill>
                <a:latin typeface="Aptos"/>
              </a:rPr>
              <a:t>GitHub submission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3794" y="5724144"/>
            <a:ext cx="4346639" cy="39395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The public repository keeps the SQL scripts, source code, README,</a:t>
            </a:r>
            <a:endParaRPr lang="ar-EG" sz="1100" b="1" i="0" dirty="0">
              <a:solidFill>
                <a:schemeClr val="tx1">
                  <a:lumMod val="95000"/>
                  <a:lumOff val="5000"/>
                </a:schemeClr>
              </a:solidFill>
              <a:latin typeface="Aptos"/>
            </a:endParaRPr>
          </a:p>
          <a:p>
            <a:pPr algn="l"/>
            <a:r>
              <a:rPr sz="1100" b="1" i="0" dirty="0">
                <a:solidFill>
                  <a:schemeClr val="tx1">
                    <a:lumMod val="95000"/>
                    <a:lumOff val="5000"/>
                  </a:schemeClr>
                </a:solidFill>
                <a:latin typeface="Aptos"/>
              </a:rPr>
              <a:t> report and presentation together for reproducible submission.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242EB95-3AB5-47CD-7559-C1B2E1045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12" y="1225296"/>
            <a:ext cx="5684520" cy="3571488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502920" cy="329184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C6972A"/>
                </a:solidFill>
                <a:latin typeface="Aptos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56032"/>
            <a:ext cx="9966960" cy="3931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2200" b="1" i="0">
                <a:solidFill>
                  <a:srgbClr val="0A0A0A"/>
                </a:solidFill>
                <a:latin typeface="Aptos Display"/>
              </a:rPr>
              <a:t>SYSTEM WORKFLOW &amp; 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76656"/>
            <a:ext cx="10241280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050" b="0" i="0">
                <a:solidFill>
                  <a:srgbClr val="5F5F5F"/>
                </a:solidFill>
                <a:latin typeface="Aptos"/>
              </a:rPr>
              <a:t>From relational design to a usable database application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024128"/>
            <a:ext cx="11338560" cy="0"/>
          </a:xfrm>
          <a:prstGeom prst="line">
            <a:avLst/>
          </a:prstGeom>
          <a:ln w="12700">
            <a:solidFill>
              <a:srgbClr val="C69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38912" y="6510528"/>
            <a:ext cx="7772400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750" b="0" i="0">
                <a:solidFill>
                  <a:srgbClr val="969696"/>
                </a:solidFill>
                <a:latin typeface="Aptos"/>
              </a:rPr>
              <a:t>BIOBANK &amp; BIOSPECIMEN MANAGEMENT SYSTEM  •  MySQL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64808"/>
            <a:ext cx="502920" cy="22860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r"/>
            <a:r>
              <a:rPr sz="900" b="1" i="0">
                <a:solidFill>
                  <a:srgbClr val="C6972A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1719072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58368" y="1572768"/>
            <a:ext cx="384048" cy="384048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618488"/>
            <a:ext cx="384048" cy="201168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C6972A"/>
                </a:solidFill>
                <a:latin typeface="Apto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084831"/>
            <a:ext cx="1389888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1050" b="1" i="0">
                <a:solidFill>
                  <a:srgbClr val="0A0A0A"/>
                </a:solidFill>
                <a:latin typeface="Aptos"/>
              </a:rPr>
              <a:t>REQUIREMENTS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487168"/>
            <a:ext cx="1389888" cy="64008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819" b="0" i="0">
                <a:solidFill>
                  <a:srgbClr val="5F5F5F"/>
                </a:solidFill>
                <a:latin typeface="Aptos"/>
              </a:rPr>
              <a:t>Define entities, attributes and business rules.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1991" y="2057400"/>
            <a:ext cx="347472" cy="41148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800" b="1" i="0">
                <a:solidFill>
                  <a:srgbClr val="C6972A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04872" y="1417320"/>
            <a:ext cx="1719072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560320" y="1572768"/>
            <a:ext cx="384048" cy="384048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560320" y="1618488"/>
            <a:ext cx="384048" cy="201168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C6972A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2084831"/>
            <a:ext cx="1389888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1050" b="1" i="0">
                <a:solidFill>
                  <a:srgbClr val="0A0A0A"/>
                </a:solidFill>
                <a:latin typeface="Aptos"/>
              </a:rPr>
              <a:t>ER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9464" y="2487168"/>
            <a:ext cx="1389888" cy="64008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819" b="0" i="0">
                <a:solidFill>
                  <a:srgbClr val="5F5F5F"/>
                </a:solidFill>
                <a:latin typeface="Aptos"/>
              </a:rPr>
              <a:t>Model relationships and cardinalities.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23944" y="2057400"/>
            <a:ext cx="347472" cy="41148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800" b="1" i="0">
                <a:solidFill>
                  <a:srgbClr val="C6972A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06824" y="1417320"/>
            <a:ext cx="1719072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462272" y="1572768"/>
            <a:ext cx="384048" cy="384048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62272" y="1618488"/>
            <a:ext cx="384048" cy="201168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C6972A"/>
                </a:solidFill>
                <a:latin typeface="Apto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2084831"/>
            <a:ext cx="1389888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1050" b="1" i="0">
                <a:solidFill>
                  <a:srgbClr val="0A0A0A"/>
                </a:solidFill>
                <a:latin typeface="Aptos"/>
              </a:rPr>
              <a:t>3NF SCHEMA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1416" y="2487168"/>
            <a:ext cx="1389888" cy="64008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819" b="0" i="0">
                <a:solidFill>
                  <a:srgbClr val="5F5F5F"/>
                </a:solidFill>
                <a:latin typeface="Aptos"/>
              </a:rPr>
              <a:t>Map entities into normalized tables.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25896" y="2057400"/>
            <a:ext cx="347472" cy="41148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800" b="1" i="0">
                <a:solidFill>
                  <a:srgbClr val="C6972A"/>
                </a:solidFill>
                <a:latin typeface="Apto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1417320"/>
            <a:ext cx="1719072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364224" y="1572768"/>
            <a:ext cx="384048" cy="384048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64224" y="1618488"/>
            <a:ext cx="384048" cy="201168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C6972A"/>
                </a:solidFill>
                <a:latin typeface="Apto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2084831"/>
            <a:ext cx="1389888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1050" b="1" i="0">
                <a:solidFill>
                  <a:srgbClr val="0A0A0A"/>
                </a:solidFill>
                <a:latin typeface="Aptos"/>
              </a:rPr>
              <a:t>MYSQL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3368" y="2487168"/>
            <a:ext cx="1389888" cy="64008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819" b="0" i="0">
                <a:solidFill>
                  <a:srgbClr val="5F5F5F"/>
                </a:solidFill>
                <a:latin typeface="Aptos"/>
              </a:rPr>
              <a:t>Create tables, keys, constraints and data.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7848" y="2057400"/>
            <a:ext cx="347472" cy="41148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800" b="1" i="0">
                <a:solidFill>
                  <a:srgbClr val="C6972A"/>
                </a:solidFill>
                <a:latin typeface="Apto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10728" y="1417320"/>
            <a:ext cx="1719072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8266176" y="1572768"/>
            <a:ext cx="384048" cy="384048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66176" y="1618488"/>
            <a:ext cx="384048" cy="201168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C6972A"/>
                </a:solidFill>
                <a:latin typeface="Apto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6176" y="2084831"/>
            <a:ext cx="1389888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1050" b="1" i="0">
                <a:solidFill>
                  <a:srgbClr val="0A0A0A"/>
                </a:solidFill>
                <a:latin typeface="Aptos"/>
              </a:rPr>
              <a:t>SQL OBJECTS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2487168"/>
            <a:ext cx="1389888" cy="64008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819" b="0" i="0">
                <a:solidFill>
                  <a:srgbClr val="5F5F5F"/>
                </a:solidFill>
                <a:latin typeface="Aptos"/>
              </a:rPr>
              <a:t>Run queries, views and trigger.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9800" y="2057400"/>
            <a:ext cx="347472" cy="41148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800" b="1" i="0">
                <a:solidFill>
                  <a:srgbClr val="C6972A"/>
                </a:solidFill>
                <a:latin typeface="Aptos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12680" y="1417320"/>
            <a:ext cx="1719072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10168128" y="1572768"/>
            <a:ext cx="384048" cy="384048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168128" y="1618488"/>
            <a:ext cx="384048" cy="201168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850" b="1" i="0">
                <a:solidFill>
                  <a:srgbClr val="C6972A"/>
                </a:solidFill>
                <a:latin typeface="Aptos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8128" y="2084831"/>
            <a:ext cx="1389888" cy="29260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1050" b="1" i="0">
                <a:solidFill>
                  <a:srgbClr val="0A0A0A"/>
                </a:solidFill>
                <a:latin typeface="Aptos"/>
              </a:rPr>
              <a:t>GUI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77272" y="2487168"/>
            <a:ext cx="1389888" cy="64008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819" b="0" i="0">
                <a:solidFill>
                  <a:srgbClr val="5F5F5F"/>
                </a:solidFill>
                <a:latin typeface="Aptos"/>
              </a:rPr>
              <a:t>Connect Tkinter to the live database.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3886200"/>
            <a:ext cx="4206240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Aptos"/>
              </a:rPr>
              <a:t>WHAT THE PROJECT DEMONSTRATES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4370832"/>
            <a:ext cx="3520440" cy="150876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2920" y="4370832"/>
            <a:ext cx="64008" cy="1508760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685800" y="4553712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5800" y="4558284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4712" y="4535424"/>
            <a:ext cx="2715768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50" b="1" i="0">
                <a:solidFill>
                  <a:srgbClr val="0A0A0A"/>
                </a:solidFill>
                <a:latin typeface="Aptos"/>
              </a:rPr>
              <a:t>Structured data management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4712" y="4937760"/>
            <a:ext cx="2715768" cy="813815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80" b="0" i="0">
                <a:solidFill>
                  <a:srgbClr val="5F5F5F"/>
                </a:solidFill>
                <a:latin typeface="Aptos"/>
              </a:rPr>
              <a:t>Ten related tables organize donors, samples, researchers, tests, storage and usage information with PK/FK constraints.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15968" y="4370832"/>
            <a:ext cx="3520440" cy="150876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315968" y="4370832"/>
            <a:ext cx="64008" cy="1508760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4498848" y="4553712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498848" y="4558284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37759" y="4535424"/>
            <a:ext cx="2715768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50" b="1" i="0">
                <a:solidFill>
                  <a:srgbClr val="0A0A0A"/>
                </a:solidFill>
                <a:latin typeface="Aptos"/>
              </a:rPr>
              <a:t>Integrity &amp; validation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37759" y="4937760"/>
            <a:ext cx="2715768" cy="813815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80" b="0" i="0">
                <a:solidFill>
                  <a:srgbClr val="5F5F5F"/>
                </a:solidFill>
                <a:latin typeface="Aptos"/>
              </a:rPr>
              <a:t>UNIQUE and NOT NULL rules, referential integrity, views and the sample-usage trigger protect the database.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29016" y="4370832"/>
            <a:ext cx="3557016" cy="150876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E6E3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129016" y="4370832"/>
            <a:ext cx="64008" cy="1508760"/>
          </a:xfrm>
          <a:prstGeom prst="rect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8311896" y="4553712"/>
            <a:ext cx="347472" cy="347472"/>
          </a:xfrm>
          <a:prstGeom prst="ellipse">
            <a:avLst/>
          </a:prstGeom>
          <a:solidFill>
            <a:srgbClr val="0A0A0A"/>
          </a:solidFill>
          <a:ln w="63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311896" y="4558284"/>
            <a:ext cx="347472" cy="32004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1200" b="1" i="0">
                <a:solidFill>
                  <a:srgbClr val="C6972A"/>
                </a:solidFill>
                <a:latin typeface="Aptos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50808" y="4535424"/>
            <a:ext cx="2752344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50" b="1" i="0">
                <a:solidFill>
                  <a:srgbClr val="0A0A0A"/>
                </a:solidFill>
                <a:latin typeface="Aptos"/>
              </a:rPr>
              <a:t>Practical application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50808" y="4937760"/>
            <a:ext cx="2752344" cy="813815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980" b="0" i="0">
                <a:solidFill>
                  <a:srgbClr val="5F5F5F"/>
                </a:solidFill>
                <a:latin typeface="Aptos"/>
              </a:rPr>
              <a:t>The connected Tkinter interface turns the database into a usable application for viewing, searching and adding donor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0835640" y="384048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954512" y="384048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073384" y="384048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192256" y="384048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835640" y="502920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54512" y="502920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073384" y="502920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192256" y="502920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835640" y="621792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954512" y="621792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073384" y="621792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1192256" y="621792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35640" y="740664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954512" y="740664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1073384" y="740664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1192256" y="740664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835640" y="859536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954512" y="859536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1073384" y="859536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1192256" y="859536"/>
            <a:ext cx="32004" cy="32004"/>
          </a:xfrm>
          <a:prstGeom prst="ellipse">
            <a:avLst/>
          </a:prstGeom>
          <a:solidFill>
            <a:srgbClr val="C6972A"/>
          </a:solidFill>
          <a:ln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713232"/>
            <a:ext cx="2743200" cy="41148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C6972A"/>
                </a:solidFill>
                <a:latin typeface="Aptos"/>
              </a:rPr>
              <a:t>CONCLUSION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1298448"/>
            <a:ext cx="6400800" cy="566928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ptos Display"/>
              </a:rPr>
              <a:t>A structured database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1874519"/>
            <a:ext cx="7132320" cy="50292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2000" b="0" i="0">
                <a:solidFill>
                  <a:srgbClr val="D2D2D2"/>
                </a:solidFill>
                <a:latin typeface="Aptos"/>
              </a:rPr>
              <a:t>with integrity, advanced SQL features, and a working user interface.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94360" y="2578608"/>
            <a:ext cx="6537960" cy="0"/>
          </a:xfrm>
          <a:prstGeom prst="line">
            <a:avLst/>
          </a:prstGeom>
          <a:ln w="20320">
            <a:solidFill>
              <a:srgbClr val="C69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94360" y="2971800"/>
            <a:ext cx="6995160" cy="24231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1000"/>
              </a:spcAft>
              <a:defRPr sz="1250" b="0">
                <a:solidFill>
                  <a:srgbClr val="EBEBEB"/>
                </a:solidFill>
                <a:latin typeface="Aptos"/>
              </a:defRPr>
            </a:pPr>
            <a:r>
              <a:t>• The MySQL database was designed around a normalized relational model for biobank and biospecimen management.</a:t>
            </a:r>
          </a:p>
          <a:p>
            <a:pPr>
              <a:spcAft>
                <a:spcPts val="1000"/>
              </a:spcAft>
              <a:defRPr sz="1250" b="0">
                <a:solidFill>
                  <a:srgbClr val="EBEBEB"/>
                </a:solidFill>
                <a:latin typeface="Aptos"/>
              </a:defRPr>
            </a:pPr>
            <a:r>
              <a:t>• SQL queries, joins, aggregation, subqueries, two views and a trigger were implemented and tested.</a:t>
            </a:r>
          </a:p>
          <a:p>
            <a:pPr>
              <a:spcAft>
                <a:spcPts val="1000"/>
              </a:spcAft>
              <a:defRPr sz="1250" b="0">
                <a:solidFill>
                  <a:srgbClr val="EBEBEB"/>
                </a:solidFill>
                <a:latin typeface="Aptos"/>
              </a:defRPr>
            </a:pPr>
            <a:r>
              <a:t>• The Tkinter GUI provides a practical connection between the database and the user.</a:t>
            </a:r>
          </a:p>
          <a:p>
            <a:pPr>
              <a:spcAft>
                <a:spcPts val="1000"/>
              </a:spcAft>
              <a:defRPr sz="1250" b="0">
                <a:solidFill>
                  <a:srgbClr val="EBEBEB"/>
                </a:solidFill>
                <a:latin typeface="Aptos"/>
              </a:defRPr>
            </a:pPr>
            <a:r>
              <a:t>• Future development can add more biospecimen workflows, stronger validation and richer reporting screens.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58200" y="1965960"/>
            <a:ext cx="2064257" cy="528066"/>
          </a:xfrm>
          <a:prstGeom prst="roundRect">
            <a:avLst/>
          </a:prstGeom>
          <a:solidFill>
            <a:srgbClr val="0A0A0A"/>
          </a:solidFill>
          <a:ln w="25400"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8" name="Connector 27"/>
          <p:cNvCxnSpPr/>
          <p:nvPr/>
        </p:nvCxnSpPr>
        <p:spPr>
          <a:xfrm>
            <a:off x="8669426" y="2225192"/>
            <a:ext cx="1641805" cy="0"/>
          </a:xfrm>
          <a:prstGeom prst="line">
            <a:avLst/>
          </a:prstGeom>
          <a:ln w="12700">
            <a:solidFill>
              <a:srgbClr val="E1B7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458200" y="2426817"/>
            <a:ext cx="2064257" cy="528066"/>
          </a:xfrm>
          <a:prstGeom prst="roundRect">
            <a:avLst/>
          </a:prstGeom>
          <a:solidFill>
            <a:srgbClr val="0A0A0A"/>
          </a:solidFill>
          <a:ln w="25400"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8669426" y="2686050"/>
            <a:ext cx="1641805" cy="0"/>
          </a:xfrm>
          <a:prstGeom prst="line">
            <a:avLst/>
          </a:prstGeom>
          <a:ln w="12700">
            <a:solidFill>
              <a:srgbClr val="E1B7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58200" y="2887675"/>
            <a:ext cx="2064257" cy="528066"/>
          </a:xfrm>
          <a:prstGeom prst="roundRect">
            <a:avLst/>
          </a:prstGeom>
          <a:solidFill>
            <a:srgbClr val="0A0A0A"/>
          </a:solidFill>
          <a:ln w="25400"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8669426" y="3146907"/>
            <a:ext cx="1641805" cy="0"/>
          </a:xfrm>
          <a:prstGeom prst="line">
            <a:avLst/>
          </a:prstGeom>
          <a:ln w="12700">
            <a:solidFill>
              <a:srgbClr val="E1B7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9975189" y="3070098"/>
            <a:ext cx="460857" cy="460857"/>
          </a:xfrm>
          <a:prstGeom prst="ellipse">
            <a:avLst/>
          </a:prstGeom>
          <a:solidFill>
            <a:srgbClr val="C6972A"/>
          </a:solidFill>
          <a:ln w="6350">
            <a:solidFill>
              <a:srgbClr val="C69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975189" y="3089300"/>
            <a:ext cx="460857" cy="345643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/>
            <a:r>
              <a:rPr sz="945" b="1" i="0">
                <a:solidFill>
                  <a:srgbClr val="0A0A0A"/>
                </a:solidFill>
                <a:latin typeface="Aptos"/>
              </a:rPr>
              <a:t>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5074920"/>
            <a:ext cx="3200400" cy="50292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2400" b="1" i="0">
                <a:solidFill>
                  <a:srgbClr val="C6972A"/>
                </a:solidFill>
                <a:latin typeface="Aptos Display"/>
              </a:rPr>
              <a:t>THANK YOU!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5596128"/>
            <a:ext cx="3017520" cy="320040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Aptos"/>
              </a:rPr>
              <a:t>Any questions?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437376"/>
            <a:ext cx="9784080" cy="164592"/>
          </a:xfrm>
          <a:prstGeom prst="rect">
            <a:avLst/>
          </a:prstGeom>
          <a:noFill/>
        </p:spPr>
        <p:txBody>
          <a:bodyPr wrap="none" lIns="27432" tIns="27432" rIns="27432" bIns="27432" anchor="t">
            <a:spAutoFit/>
          </a:bodyPr>
          <a:lstStyle/>
          <a:p>
            <a:pPr algn="l"/>
            <a:r>
              <a:rPr sz="750" b="0" i="0">
                <a:solidFill>
                  <a:srgbClr val="969696"/>
                </a:solidFill>
                <a:latin typeface="Aptos"/>
              </a:rPr>
              <a:t>Lamia Shady  •  Biobank &amp; Biospecimen Management System  •  MySQL + Python Tkinter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xis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xis" id="{2A75EA04-0AE5-4074-9538-7DA6C138DAE9}" vid="{E39B6906-D52F-4B95-B43C-27F512CB479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127</TotalTime>
  <Words>1971</Words>
  <Application>Microsoft Office PowerPoint</Application>
  <PresentationFormat>Widescreen</PresentationFormat>
  <Paragraphs>312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Consolas</vt:lpstr>
      <vt:lpstr>Neue Haas Grotesk Text Pro</vt:lpstr>
      <vt:lpstr>Axis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lamiaa ayman</cp:lastModifiedBy>
  <cp:revision>2</cp:revision>
  <dcterms:created xsi:type="dcterms:W3CDTF">2013-01-27T09:14:16Z</dcterms:created>
  <dcterms:modified xsi:type="dcterms:W3CDTF">2026-08-15T17:53:32Z</dcterms:modified>
  <cp:category/>
</cp:coreProperties>
</file>